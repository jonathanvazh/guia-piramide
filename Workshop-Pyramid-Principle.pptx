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state the rule: 80% of the time they write, not me talking. Ask them to have their own document to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whole agenda aloud. Just point out that most of the time they will be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 not the group. Skip it in the session and use it when preparing.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paragraph aloud and ask the group what is being requested. Hold the silence. Do not rescue the room too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no rigour was removed: the detail still exists, it simply stopped going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usually a moment of recognition here. Ask how many write the first way; almost everyone raises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anyone reading only the gold bar can already decide. The lower levels exist for those who want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four names visible: they are used untranslated in global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question never appears in the real document: it arises on its own if the complication is well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highest-return and most uncomfortable exercise: it exposes when there is no conclusion because none was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while they write. Do not correct yet: the critique comes in the next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aloud before the critique starts. Without these rules the block falls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document of your own. If nobody volunteers, pick someone you have rapport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lines, one per element. If the situation takes three lines, it is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close the method block if time runs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ask for several commitments. One only, verifiable, reinforced by you returning documents with the same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Remind the group where the full guide lives and which sections to go deeper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17320"/>
            <a:ext cx="6400800" cy="274320"/>
          </a:xfrm>
          <a:prstGeom prst="rect">
            <a:avLst/>
          </a:prstGeom>
          <a:noFill/>
          <a:ln/>
        </p:spPr>
        <p:txBody>
          <a:bodyPr wrap="square" lIns="0" tIns="0" rIns="0" bIns="0" rtlCol="0" anchor="ctr"/>
          <a:lstStyle/>
          <a:p>
            <a:pPr indent="0" marL="0">
              <a:buNone/>
            </a:pPr>
            <a:r>
              <a:rPr lang="en-US" sz="1100" b="1" spc="250" kern="0" dirty="0">
                <a:solidFill>
                  <a:srgbClr val="B3841C"/>
                </a:solidFill>
                <a:latin typeface="Calibri" pitchFamily="34" charset="0"/>
                <a:ea typeface="Calibri" pitchFamily="34" charset="-122"/>
                <a:cs typeface="Calibri" pitchFamily="34" charset="-120"/>
              </a:rPr>
              <a:t>WORKSHOP · 90 MINUTES</a:t>
            </a:r>
            <a:endParaRPr lang="en-US" sz="1100" dirty="0"/>
          </a:p>
        </p:txBody>
      </p:sp>
      <p:sp>
        <p:nvSpPr>
          <p:cNvPr id="3" name="Text 1"/>
          <p:cNvSpPr/>
          <p:nvPr/>
        </p:nvSpPr>
        <p:spPr>
          <a:xfrm>
            <a:off x="502920" y="1783080"/>
            <a:ext cx="74980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Pyramid Principle</a:t>
            </a:r>
            <a:endParaRPr lang="en-US" sz="4000" dirty="0"/>
          </a:p>
        </p:txBody>
      </p:sp>
      <p:sp>
        <p:nvSpPr>
          <p:cNvPr id="4" name="Text 2"/>
          <p:cNvSpPr/>
          <p:nvPr/>
        </p:nvSpPr>
        <p:spPr>
          <a:xfrm>
            <a:off x="502920" y="2697480"/>
            <a:ext cx="6583680" cy="502920"/>
          </a:xfrm>
          <a:prstGeom prst="rect">
            <a:avLst/>
          </a:prstGeom>
          <a:noFill/>
          <a:ln/>
        </p:spPr>
        <p:txBody>
          <a:bodyPr wrap="square" lIns="0" tIns="0" rIns="0" bIns="0" rtlCol="0" anchor="ctr"/>
          <a:lstStyle/>
          <a:p>
            <a:pPr indent="0" marL="0">
              <a:buNone/>
            </a:pPr>
            <a:r>
              <a:rPr lang="en-US" sz="1500" dirty="0">
                <a:solidFill>
                  <a:srgbClr val="AEB9D0"/>
                </a:solidFill>
                <a:latin typeface="Calibri" pitchFamily="34" charset="0"/>
                <a:ea typeface="Calibri" pitchFamily="34" charset="-122"/>
                <a:cs typeface="Calibri" pitchFamily="34" charset="-120"/>
              </a:rPr>
              <a:t>How to structure an argument so it lands the first time</a:t>
            </a:r>
            <a:endParaRPr lang="en-US" sz="1500" dirty="0"/>
          </a:p>
        </p:txBody>
      </p:sp>
      <p:sp>
        <p:nvSpPr>
          <p:cNvPr id="5" name="Shape 3"/>
          <p:cNvSpPr/>
          <p:nvPr/>
        </p:nvSpPr>
        <p:spPr>
          <a:xfrm>
            <a:off x="502920" y="3429000"/>
            <a:ext cx="2011680" cy="0"/>
          </a:xfrm>
          <a:prstGeom prst="line">
            <a:avLst/>
          </a:prstGeom>
          <a:noFill/>
          <a:ln w="25400">
            <a:solidFill>
              <a:srgbClr val="B3841C"/>
            </a:solidFill>
            <a:prstDash val="solid"/>
          </a:ln>
        </p:spPr>
      </p:sp>
      <p:sp>
        <p:nvSpPr>
          <p:cNvPr id="6" name="Text 4"/>
          <p:cNvSpPr/>
          <p:nvPr/>
        </p:nvSpPr>
        <p:spPr>
          <a:xfrm>
            <a:off x="502920" y="3611880"/>
            <a:ext cx="6400800" cy="320040"/>
          </a:xfrm>
          <a:prstGeom prst="rect">
            <a:avLst/>
          </a:prstGeom>
          <a:noFill/>
          <a:ln/>
        </p:spPr>
        <p:txBody>
          <a:bodyPr wrap="square" lIns="0" tIns="0" rIns="0" bIns="0" rtlCol="0" anchor="ctr"/>
          <a:lstStyle/>
          <a:p>
            <a:pPr indent="0" marL="0">
              <a:buNone/>
            </a:pPr>
            <a:r>
              <a:rPr lang="en-US" sz="1200" dirty="0">
                <a:solidFill>
                  <a:srgbClr val="77809A"/>
                </a:solidFill>
                <a:latin typeface="Calibri" pitchFamily="34" charset="0"/>
                <a:ea typeface="Calibri" pitchFamily="34" charset="-122"/>
                <a:cs typeface="Calibri" pitchFamily="34" charset="-120"/>
              </a:rPr>
              <a:t>Conclusion first · SCQA · The So what? 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AGENDA</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The session is 80% exercise and 20% presentation</a:t>
            </a:r>
            <a:endParaRPr lang="en-US" sz="2600" dirty="0"/>
          </a:p>
        </p:txBody>
      </p:sp>
      <p:sp>
        <p:nvSpPr>
          <p:cNvPr id="4" name="Shape 2"/>
          <p:cNvSpPr/>
          <p:nvPr/>
        </p:nvSpPr>
        <p:spPr>
          <a:xfrm>
            <a:off x="502920" y="1389888"/>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04088" y="1389888"/>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Opening</a:t>
            </a:r>
            <a:endParaRPr lang="en-US" sz="1300" dirty="0"/>
          </a:p>
        </p:txBody>
      </p:sp>
      <p:sp>
        <p:nvSpPr>
          <p:cNvPr id="6" name="Text 4"/>
          <p:cNvSpPr/>
          <p:nvPr/>
        </p:nvSpPr>
        <p:spPr>
          <a:xfrm>
            <a:off x="2130552" y="1389888"/>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A real document that says nothing. What is being asked here?</a:t>
            </a:r>
            <a:endParaRPr lang="en-US" sz="1200" dirty="0"/>
          </a:p>
        </p:txBody>
      </p:sp>
      <p:sp>
        <p:nvSpPr>
          <p:cNvPr id="7" name="Shape 5"/>
          <p:cNvSpPr/>
          <p:nvPr/>
        </p:nvSpPr>
        <p:spPr>
          <a:xfrm>
            <a:off x="7680960" y="1490472"/>
            <a:ext cx="777240" cy="310896"/>
          </a:xfrm>
          <a:prstGeom prst="roundRect">
            <a:avLst>
              <a:gd name="adj" fmla="val 50000"/>
            </a:avLst>
          </a:prstGeom>
          <a:solidFill>
            <a:srgbClr val="B3841C"/>
          </a:solidFill>
          <a:ln w="12700">
            <a:solidFill>
              <a:srgbClr val="B3841C"/>
            </a:solidFill>
            <a:prstDash val="solid"/>
          </a:ln>
        </p:spPr>
      </p:sp>
      <p:sp>
        <p:nvSpPr>
          <p:cNvPr id="8" name="Text 6"/>
          <p:cNvSpPr/>
          <p:nvPr/>
        </p:nvSpPr>
        <p:spPr>
          <a:xfrm>
            <a:off x="7680960" y="1490472"/>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10 min</a:t>
            </a:r>
            <a:endParaRPr lang="en-US" sz="1100" dirty="0"/>
          </a:p>
        </p:txBody>
      </p:sp>
      <p:sp>
        <p:nvSpPr>
          <p:cNvPr id="9" name="Shape 7"/>
          <p:cNvSpPr/>
          <p:nvPr/>
        </p:nvSpPr>
        <p:spPr>
          <a:xfrm>
            <a:off x="502920" y="1965960"/>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0" name="Text 8"/>
          <p:cNvSpPr/>
          <p:nvPr/>
        </p:nvSpPr>
        <p:spPr>
          <a:xfrm>
            <a:off x="704088" y="1965960"/>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Method</a:t>
            </a:r>
            <a:endParaRPr lang="en-US" sz="1300" dirty="0"/>
          </a:p>
        </p:txBody>
      </p:sp>
      <p:sp>
        <p:nvSpPr>
          <p:cNvPr id="11" name="Text 9"/>
          <p:cNvSpPr/>
          <p:nvPr/>
        </p:nvSpPr>
        <p:spPr>
          <a:xfrm>
            <a:off x="2130552" y="1965960"/>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Only three things. No MECE or deduction yet.</a:t>
            </a:r>
            <a:endParaRPr lang="en-US" sz="1200" dirty="0"/>
          </a:p>
        </p:txBody>
      </p:sp>
      <p:sp>
        <p:nvSpPr>
          <p:cNvPr id="12" name="Shape 10"/>
          <p:cNvSpPr/>
          <p:nvPr/>
        </p:nvSpPr>
        <p:spPr>
          <a:xfrm>
            <a:off x="7680960" y="2066544"/>
            <a:ext cx="777240" cy="310896"/>
          </a:xfrm>
          <a:prstGeom prst="roundRect">
            <a:avLst>
              <a:gd name="adj" fmla="val 50000"/>
            </a:avLst>
          </a:prstGeom>
          <a:solidFill>
            <a:srgbClr val="B3841C"/>
          </a:solidFill>
          <a:ln w="12700">
            <a:solidFill>
              <a:srgbClr val="B3841C"/>
            </a:solidFill>
            <a:prstDash val="solid"/>
          </a:ln>
        </p:spPr>
      </p:sp>
      <p:sp>
        <p:nvSpPr>
          <p:cNvPr id="13" name="Text 11"/>
          <p:cNvSpPr/>
          <p:nvPr/>
        </p:nvSpPr>
        <p:spPr>
          <a:xfrm>
            <a:off x="7680960" y="2066544"/>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20 min</a:t>
            </a:r>
            <a:endParaRPr lang="en-US" sz="1100" dirty="0"/>
          </a:p>
        </p:txBody>
      </p:sp>
      <p:sp>
        <p:nvSpPr>
          <p:cNvPr id="14" name="Shape 12"/>
          <p:cNvSpPr/>
          <p:nvPr/>
        </p:nvSpPr>
        <p:spPr>
          <a:xfrm>
            <a:off x="502920" y="2542032"/>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5" name="Text 13"/>
          <p:cNvSpPr/>
          <p:nvPr/>
        </p:nvSpPr>
        <p:spPr>
          <a:xfrm>
            <a:off x="704088" y="2542032"/>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Exercise 1</a:t>
            </a:r>
            <a:endParaRPr lang="en-US" sz="1300" dirty="0"/>
          </a:p>
        </p:txBody>
      </p:sp>
      <p:sp>
        <p:nvSpPr>
          <p:cNvPr id="16" name="Text 14"/>
          <p:cNvSpPr/>
          <p:nvPr/>
        </p:nvSpPr>
        <p:spPr>
          <a:xfrm>
            <a:off x="2130552" y="2542032"/>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Your conclusion in one sentence, put through So what?</a:t>
            </a:r>
            <a:endParaRPr lang="en-US" sz="1200" dirty="0"/>
          </a:p>
        </p:txBody>
      </p:sp>
      <p:sp>
        <p:nvSpPr>
          <p:cNvPr id="17" name="Shape 15"/>
          <p:cNvSpPr/>
          <p:nvPr/>
        </p:nvSpPr>
        <p:spPr>
          <a:xfrm>
            <a:off x="7680960" y="2642616"/>
            <a:ext cx="777240" cy="310896"/>
          </a:xfrm>
          <a:prstGeom prst="roundRect">
            <a:avLst>
              <a:gd name="adj" fmla="val 50000"/>
            </a:avLst>
          </a:prstGeom>
          <a:solidFill>
            <a:srgbClr val="B3841C"/>
          </a:solidFill>
          <a:ln w="12700">
            <a:solidFill>
              <a:srgbClr val="B3841C"/>
            </a:solidFill>
            <a:prstDash val="solid"/>
          </a:ln>
        </p:spPr>
      </p:sp>
      <p:sp>
        <p:nvSpPr>
          <p:cNvPr id="18" name="Text 16"/>
          <p:cNvSpPr/>
          <p:nvPr/>
        </p:nvSpPr>
        <p:spPr>
          <a:xfrm>
            <a:off x="7680960" y="2642616"/>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15 min</a:t>
            </a:r>
            <a:endParaRPr lang="en-US" sz="1100" dirty="0"/>
          </a:p>
        </p:txBody>
      </p:sp>
      <p:sp>
        <p:nvSpPr>
          <p:cNvPr id="19" name="Shape 17"/>
          <p:cNvSpPr/>
          <p:nvPr/>
        </p:nvSpPr>
        <p:spPr>
          <a:xfrm>
            <a:off x="502920" y="3118104"/>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20" name="Text 18"/>
          <p:cNvSpPr/>
          <p:nvPr/>
        </p:nvSpPr>
        <p:spPr>
          <a:xfrm>
            <a:off x="704088" y="3118104"/>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Critique</a:t>
            </a:r>
            <a:endParaRPr lang="en-US" sz="1300" dirty="0"/>
          </a:p>
        </p:txBody>
      </p:sp>
      <p:sp>
        <p:nvSpPr>
          <p:cNvPr id="21" name="Text 19"/>
          <p:cNvSpPr/>
          <p:nvPr/>
        </p:nvSpPr>
        <p:spPr>
          <a:xfrm>
            <a:off x="2130552" y="3118104"/>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Three volunteers read. The group asks out loud.</a:t>
            </a:r>
            <a:endParaRPr lang="en-US" sz="1200" dirty="0"/>
          </a:p>
        </p:txBody>
      </p:sp>
      <p:sp>
        <p:nvSpPr>
          <p:cNvPr id="22" name="Shape 20"/>
          <p:cNvSpPr/>
          <p:nvPr/>
        </p:nvSpPr>
        <p:spPr>
          <a:xfrm>
            <a:off x="7680960" y="3218688"/>
            <a:ext cx="777240" cy="310896"/>
          </a:xfrm>
          <a:prstGeom prst="roundRect">
            <a:avLst>
              <a:gd name="adj" fmla="val 50000"/>
            </a:avLst>
          </a:prstGeom>
          <a:solidFill>
            <a:srgbClr val="B3841C"/>
          </a:solidFill>
          <a:ln w="12700">
            <a:solidFill>
              <a:srgbClr val="B3841C"/>
            </a:solidFill>
            <a:prstDash val="solid"/>
          </a:ln>
        </p:spPr>
      </p:sp>
      <p:sp>
        <p:nvSpPr>
          <p:cNvPr id="23" name="Text 21"/>
          <p:cNvSpPr/>
          <p:nvPr/>
        </p:nvSpPr>
        <p:spPr>
          <a:xfrm>
            <a:off x="7680960" y="3218688"/>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20 min</a:t>
            </a:r>
            <a:endParaRPr lang="en-US" sz="1100" dirty="0"/>
          </a:p>
        </p:txBody>
      </p:sp>
      <p:sp>
        <p:nvSpPr>
          <p:cNvPr id="24" name="Shape 22"/>
          <p:cNvSpPr/>
          <p:nvPr/>
        </p:nvSpPr>
        <p:spPr>
          <a:xfrm>
            <a:off x="502920" y="3694176"/>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25" name="Text 23"/>
          <p:cNvSpPr/>
          <p:nvPr/>
        </p:nvSpPr>
        <p:spPr>
          <a:xfrm>
            <a:off x="704088" y="3694176"/>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Exercise 2</a:t>
            </a:r>
            <a:endParaRPr lang="en-US" sz="1300" dirty="0"/>
          </a:p>
        </p:txBody>
      </p:sp>
      <p:sp>
        <p:nvSpPr>
          <p:cNvPr id="26" name="Text 24"/>
          <p:cNvSpPr/>
          <p:nvPr/>
        </p:nvSpPr>
        <p:spPr>
          <a:xfrm>
            <a:off x="2130552" y="3694176"/>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Rewrite your introduction using SCQA, four lines.</a:t>
            </a:r>
            <a:endParaRPr lang="en-US" sz="1200" dirty="0"/>
          </a:p>
        </p:txBody>
      </p:sp>
      <p:sp>
        <p:nvSpPr>
          <p:cNvPr id="27" name="Shape 25"/>
          <p:cNvSpPr/>
          <p:nvPr/>
        </p:nvSpPr>
        <p:spPr>
          <a:xfrm>
            <a:off x="7680960" y="3794760"/>
            <a:ext cx="777240" cy="310896"/>
          </a:xfrm>
          <a:prstGeom prst="roundRect">
            <a:avLst>
              <a:gd name="adj" fmla="val 50000"/>
            </a:avLst>
          </a:prstGeom>
          <a:solidFill>
            <a:srgbClr val="B3841C"/>
          </a:solidFill>
          <a:ln w="12700">
            <a:solidFill>
              <a:srgbClr val="B3841C"/>
            </a:solidFill>
            <a:prstDash val="solid"/>
          </a:ln>
        </p:spPr>
      </p:sp>
      <p:sp>
        <p:nvSpPr>
          <p:cNvPr id="28" name="Text 26"/>
          <p:cNvSpPr/>
          <p:nvPr/>
        </p:nvSpPr>
        <p:spPr>
          <a:xfrm>
            <a:off x="7680960" y="3794760"/>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15 min</a:t>
            </a:r>
            <a:endParaRPr lang="en-US" sz="1100" dirty="0"/>
          </a:p>
        </p:txBody>
      </p:sp>
      <p:sp>
        <p:nvSpPr>
          <p:cNvPr id="29" name="Shape 27"/>
          <p:cNvSpPr/>
          <p:nvPr/>
        </p:nvSpPr>
        <p:spPr>
          <a:xfrm>
            <a:off x="502920" y="4270248"/>
            <a:ext cx="8138160" cy="51206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30" name="Text 28"/>
          <p:cNvSpPr/>
          <p:nvPr/>
        </p:nvSpPr>
        <p:spPr>
          <a:xfrm>
            <a:off x="704088" y="4270248"/>
            <a:ext cx="1371600" cy="512064"/>
          </a:xfrm>
          <a:prstGeom prst="rect">
            <a:avLst/>
          </a:prstGeom>
          <a:noFill/>
          <a:ln/>
        </p:spPr>
        <p:txBody>
          <a:bodyPr wrap="square" lIns="0" tIns="0" rIns="0" bIns="0" rtlCol="0" anchor="ctr"/>
          <a:lstStyle/>
          <a:p>
            <a:pPr indent="0" marL="0">
              <a:buNone/>
            </a:pPr>
            <a:r>
              <a:rPr lang="en-US" sz="1300" b="1" dirty="0">
                <a:solidFill>
                  <a:srgbClr val="0D1526"/>
                </a:solidFill>
                <a:latin typeface="Calibri" pitchFamily="34" charset="0"/>
                <a:ea typeface="Calibri" pitchFamily="34" charset="-122"/>
                <a:cs typeface="Calibri" pitchFamily="34" charset="-120"/>
              </a:rPr>
              <a:t>Close</a:t>
            </a:r>
            <a:endParaRPr lang="en-US" sz="1300" dirty="0"/>
          </a:p>
        </p:txBody>
      </p:sp>
      <p:sp>
        <p:nvSpPr>
          <p:cNvPr id="31" name="Text 29"/>
          <p:cNvSpPr/>
          <p:nvPr/>
        </p:nvSpPr>
        <p:spPr>
          <a:xfrm>
            <a:off x="2130552" y="4270248"/>
            <a:ext cx="5394960" cy="51206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One single commitment for the month ahead.</a:t>
            </a:r>
            <a:endParaRPr lang="en-US" sz="1200" dirty="0"/>
          </a:p>
        </p:txBody>
      </p:sp>
      <p:sp>
        <p:nvSpPr>
          <p:cNvPr id="32" name="Shape 30"/>
          <p:cNvSpPr/>
          <p:nvPr/>
        </p:nvSpPr>
        <p:spPr>
          <a:xfrm>
            <a:off x="7680960" y="4370832"/>
            <a:ext cx="777240" cy="310896"/>
          </a:xfrm>
          <a:prstGeom prst="roundRect">
            <a:avLst>
              <a:gd name="adj" fmla="val 50000"/>
            </a:avLst>
          </a:prstGeom>
          <a:solidFill>
            <a:srgbClr val="B3841C"/>
          </a:solidFill>
          <a:ln w="12700">
            <a:solidFill>
              <a:srgbClr val="B3841C"/>
            </a:solidFill>
            <a:prstDash val="solid"/>
          </a:ln>
        </p:spPr>
      </p:sp>
      <p:sp>
        <p:nvSpPr>
          <p:cNvPr id="33" name="Text 31"/>
          <p:cNvSpPr/>
          <p:nvPr/>
        </p:nvSpPr>
        <p:spPr>
          <a:xfrm>
            <a:off x="7680960" y="4370832"/>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10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FOR THE FACILITATOR</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Without a document of their own, the session does not work</a:t>
            </a:r>
            <a:endParaRPr lang="en-US" sz="2600" dirty="0"/>
          </a:p>
        </p:txBody>
      </p:sp>
      <p:sp>
        <p:nvSpPr>
          <p:cNvPr id="4" name="Shape 2"/>
          <p:cNvSpPr/>
          <p:nvPr/>
        </p:nvSpPr>
        <p:spPr>
          <a:xfrm>
            <a:off x="502920" y="1508760"/>
            <a:ext cx="2560320" cy="228600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Shape 3"/>
          <p:cNvSpPr/>
          <p:nvPr/>
        </p:nvSpPr>
        <p:spPr>
          <a:xfrm>
            <a:off x="731520" y="1737360"/>
            <a:ext cx="384048" cy="384048"/>
          </a:xfrm>
          <a:prstGeom prst="ellipse">
            <a:avLst/>
          </a:prstGeom>
          <a:solidFill>
            <a:srgbClr val="F2E7CB"/>
          </a:solidFill>
          <a:ln w="12700">
            <a:solidFill>
              <a:srgbClr val="F2E7CB"/>
            </a:solidFill>
            <a:prstDash val="solid"/>
          </a:ln>
        </p:spPr>
      </p:sp>
      <p:sp>
        <p:nvSpPr>
          <p:cNvPr id="6" name="Text 4"/>
          <p:cNvSpPr/>
          <p:nvPr/>
        </p:nvSpPr>
        <p:spPr>
          <a:xfrm>
            <a:off x="731520" y="1737360"/>
            <a:ext cx="384048" cy="384048"/>
          </a:xfrm>
          <a:prstGeom prst="rect">
            <a:avLst/>
          </a:prstGeom>
          <a:noFill/>
          <a:ln/>
        </p:spPr>
        <p:txBody>
          <a:bodyPr wrap="square" lIns="0" tIns="0" rIns="0" bIns="0" rtlCol="0" anchor="ctr"/>
          <a:lstStyle/>
          <a:p>
            <a:pPr algn="ctr" indent="0" marL="0">
              <a:buNone/>
            </a:pPr>
            <a:r>
              <a:rPr lang="en-US" sz="1400" b="1" dirty="0">
                <a:solidFill>
                  <a:srgbClr val="B3841C"/>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31520" y="2267712"/>
            <a:ext cx="2103120" cy="502920"/>
          </a:xfrm>
          <a:prstGeom prst="rect">
            <a:avLst/>
          </a:prstGeom>
          <a:noFill/>
          <a:ln/>
        </p:spPr>
        <p:txBody>
          <a:bodyPr wrap="square" lIns="0" tIns="0" rIns="0" bIns="0" rtlCol="0" anchor="t"/>
          <a:lstStyle/>
          <a:p>
            <a:pPr indent="0" marL="0">
              <a:buNone/>
            </a:pPr>
            <a:r>
              <a:rPr lang="en-US" sz="1400" b="1" dirty="0">
                <a:solidFill>
                  <a:srgbClr val="0D1526"/>
                </a:solidFill>
                <a:latin typeface="Calibri" pitchFamily="34" charset="0"/>
                <a:ea typeface="Calibri" pitchFamily="34" charset="-122"/>
                <a:cs typeface="Calibri" pitchFamily="34" charset="-120"/>
              </a:rPr>
              <a:t>Everyone brings their own</a:t>
            </a:r>
            <a:endParaRPr lang="en-US" sz="1400" dirty="0"/>
          </a:p>
        </p:txBody>
      </p:sp>
      <p:sp>
        <p:nvSpPr>
          <p:cNvPr id="8" name="Text 6"/>
          <p:cNvSpPr/>
          <p:nvPr/>
        </p:nvSpPr>
        <p:spPr>
          <a:xfrm>
            <a:off x="731520" y="2788920"/>
            <a:ext cx="2103120" cy="91440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A memo, a long email or a summary slide they have already sent. Real, not invented.</a:t>
            </a:r>
            <a:endParaRPr lang="en-US" sz="1150" dirty="0"/>
          </a:p>
        </p:txBody>
      </p:sp>
      <p:sp>
        <p:nvSpPr>
          <p:cNvPr id="9" name="Shape 7"/>
          <p:cNvSpPr/>
          <p:nvPr/>
        </p:nvSpPr>
        <p:spPr>
          <a:xfrm>
            <a:off x="3291840" y="1508760"/>
            <a:ext cx="2560320" cy="228600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0" name="Shape 8"/>
          <p:cNvSpPr/>
          <p:nvPr/>
        </p:nvSpPr>
        <p:spPr>
          <a:xfrm>
            <a:off x="3520440" y="1737360"/>
            <a:ext cx="384048" cy="384048"/>
          </a:xfrm>
          <a:prstGeom prst="ellipse">
            <a:avLst/>
          </a:prstGeom>
          <a:solidFill>
            <a:srgbClr val="F2E7CB"/>
          </a:solidFill>
          <a:ln w="12700">
            <a:solidFill>
              <a:srgbClr val="F2E7CB"/>
            </a:solidFill>
            <a:prstDash val="solid"/>
          </a:ln>
        </p:spPr>
      </p:sp>
      <p:sp>
        <p:nvSpPr>
          <p:cNvPr id="11" name="Text 9"/>
          <p:cNvSpPr/>
          <p:nvPr/>
        </p:nvSpPr>
        <p:spPr>
          <a:xfrm>
            <a:off x="3520440" y="1737360"/>
            <a:ext cx="384048" cy="384048"/>
          </a:xfrm>
          <a:prstGeom prst="rect">
            <a:avLst/>
          </a:prstGeom>
          <a:noFill/>
          <a:ln/>
        </p:spPr>
        <p:txBody>
          <a:bodyPr wrap="square" lIns="0" tIns="0" rIns="0" bIns="0" rtlCol="0" anchor="ctr"/>
          <a:lstStyle/>
          <a:p>
            <a:pPr algn="ctr" indent="0" marL="0">
              <a:buNone/>
            </a:pPr>
            <a:r>
              <a:rPr lang="en-US" sz="1400" b="1" dirty="0">
                <a:solidFill>
                  <a:srgbClr val="B3841C"/>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20440" y="2267712"/>
            <a:ext cx="2103120" cy="502920"/>
          </a:xfrm>
          <a:prstGeom prst="rect">
            <a:avLst/>
          </a:prstGeom>
          <a:noFill/>
          <a:ln/>
        </p:spPr>
        <p:txBody>
          <a:bodyPr wrap="square" lIns="0" tIns="0" rIns="0" bIns="0" rtlCol="0" anchor="t"/>
          <a:lstStyle/>
          <a:p>
            <a:pPr indent="0" marL="0">
              <a:buNone/>
            </a:pPr>
            <a:r>
              <a:rPr lang="en-US" sz="1400" b="1" dirty="0">
                <a:solidFill>
                  <a:srgbClr val="0D1526"/>
                </a:solidFill>
                <a:latin typeface="Calibri" pitchFamily="34" charset="0"/>
                <a:ea typeface="Calibri" pitchFamily="34" charset="-122"/>
                <a:cs typeface="Calibri" pitchFamily="34" charset="-120"/>
              </a:rPr>
              <a:t>Design for the unread</a:t>
            </a:r>
            <a:endParaRPr lang="en-US" sz="1400" dirty="0"/>
          </a:p>
        </p:txBody>
      </p:sp>
      <p:sp>
        <p:nvSpPr>
          <p:cNvPr id="13" name="Text 11"/>
          <p:cNvSpPr/>
          <p:nvPr/>
        </p:nvSpPr>
        <p:spPr>
          <a:xfrm>
            <a:off x="3520440" y="2788920"/>
            <a:ext cx="2103120" cy="91440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Send the guide in advance, but assume nobody read it. The session must stand alone.</a:t>
            </a:r>
            <a:endParaRPr lang="en-US" sz="1150" dirty="0"/>
          </a:p>
        </p:txBody>
      </p:sp>
      <p:sp>
        <p:nvSpPr>
          <p:cNvPr id="14" name="Shape 12"/>
          <p:cNvSpPr/>
          <p:nvPr/>
        </p:nvSpPr>
        <p:spPr>
          <a:xfrm>
            <a:off x="6080760" y="1508760"/>
            <a:ext cx="2560320" cy="228600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5" name="Shape 13"/>
          <p:cNvSpPr/>
          <p:nvPr/>
        </p:nvSpPr>
        <p:spPr>
          <a:xfrm>
            <a:off x="6309360" y="1737360"/>
            <a:ext cx="384048" cy="384048"/>
          </a:xfrm>
          <a:prstGeom prst="ellipse">
            <a:avLst/>
          </a:prstGeom>
          <a:solidFill>
            <a:srgbClr val="F2E7CB"/>
          </a:solidFill>
          <a:ln w="12700">
            <a:solidFill>
              <a:srgbClr val="F2E7CB"/>
            </a:solidFill>
            <a:prstDash val="solid"/>
          </a:ln>
        </p:spPr>
      </p:sp>
      <p:sp>
        <p:nvSpPr>
          <p:cNvPr id="16" name="Text 14"/>
          <p:cNvSpPr/>
          <p:nvPr/>
        </p:nvSpPr>
        <p:spPr>
          <a:xfrm>
            <a:off x="6309360" y="1737360"/>
            <a:ext cx="384048" cy="384048"/>
          </a:xfrm>
          <a:prstGeom prst="rect">
            <a:avLst/>
          </a:prstGeom>
          <a:noFill/>
          <a:ln/>
        </p:spPr>
        <p:txBody>
          <a:bodyPr wrap="square" lIns="0" tIns="0" rIns="0" bIns="0" rtlCol="0" anchor="ctr"/>
          <a:lstStyle/>
          <a:p>
            <a:pPr algn="ctr" indent="0" marL="0">
              <a:buNone/>
            </a:pPr>
            <a:r>
              <a:rPr lang="en-US" sz="1400" b="1" dirty="0">
                <a:solidFill>
                  <a:srgbClr val="B3841C"/>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309360" y="2267712"/>
            <a:ext cx="2103120" cy="502920"/>
          </a:xfrm>
          <a:prstGeom prst="rect">
            <a:avLst/>
          </a:prstGeom>
          <a:noFill/>
          <a:ln/>
        </p:spPr>
        <p:txBody>
          <a:bodyPr wrap="square" lIns="0" tIns="0" rIns="0" bIns="0" rtlCol="0" anchor="t"/>
          <a:lstStyle/>
          <a:p>
            <a:pPr indent="0" marL="0">
              <a:buNone/>
            </a:pPr>
            <a:r>
              <a:rPr lang="en-US" sz="1400" b="1" dirty="0">
                <a:solidFill>
                  <a:srgbClr val="0D1526"/>
                </a:solidFill>
                <a:latin typeface="Calibri" pitchFamily="34" charset="0"/>
                <a:ea typeface="Calibri" pitchFamily="34" charset="-122"/>
                <a:cs typeface="Calibri" pitchFamily="34" charset="-120"/>
              </a:rPr>
              <a:t>Eight people maximum</a:t>
            </a:r>
            <a:endParaRPr lang="en-US" sz="1400" dirty="0"/>
          </a:p>
        </p:txBody>
      </p:sp>
      <p:sp>
        <p:nvSpPr>
          <p:cNvPr id="18" name="Text 16"/>
          <p:cNvSpPr/>
          <p:nvPr/>
        </p:nvSpPr>
        <p:spPr>
          <a:xfrm>
            <a:off x="6309360" y="2788920"/>
            <a:ext cx="2103120" cy="91440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Beyond that nobody gets individual critique and the exercise dilutes into general discussion.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OPENING</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What is this paragraph asking the reader to do?</a:t>
            </a:r>
            <a:endParaRPr lang="en-US" sz="2600" dirty="0"/>
          </a:p>
        </p:txBody>
      </p:sp>
      <p:sp>
        <p:nvSpPr>
          <p:cNvPr id="4" name="Shape 2"/>
          <p:cNvSpPr/>
          <p:nvPr/>
        </p:nvSpPr>
        <p:spPr>
          <a:xfrm>
            <a:off x="502920" y="1481328"/>
            <a:ext cx="5074920" cy="233172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58952" y="1691640"/>
            <a:ext cx="4572000" cy="1920240"/>
          </a:xfrm>
          <a:prstGeom prst="rect">
            <a:avLst/>
          </a:prstGeom>
          <a:noFill/>
          <a:ln/>
        </p:spPr>
        <p:txBody>
          <a:bodyPr wrap="square" lIns="0" tIns="0" rIns="0" bIns="0" rtlCol="0" anchor="t"/>
          <a:lstStyle/>
          <a:p>
            <a:pPr indent="0" marL="0">
              <a:lnSpc>
                <a:spcPts val="1800"/>
              </a:lnSpc>
              <a:buNone/>
            </a:pPr>
            <a:r>
              <a:rPr lang="en-US" sz="1250" i="1" dirty="0">
                <a:solidFill>
                  <a:srgbClr val="23304A"/>
                </a:solidFill>
                <a:latin typeface="Calibri" pitchFamily="34" charset="0"/>
                <a:ea typeface="Calibri" pitchFamily="34" charset="-122"/>
                <a:cs typeface="Calibri" pitchFamily="34" charset="-120"/>
              </a:rPr>
              <a:t>"The quarterly review of the wholesale portfolio was performed. 1,240 borrowers were reviewed with data as of June. The methodology consisted of migration rates by rating and vintage analysis. Results show variations across several segments. Conclusions and recommendations are presented in section 4."</a:t>
            </a:r>
            <a:endParaRPr lang="en-US" sz="1250" dirty="0"/>
          </a:p>
        </p:txBody>
      </p:sp>
      <p:sp>
        <p:nvSpPr>
          <p:cNvPr id="6" name="Text 4"/>
          <p:cNvSpPr/>
          <p:nvPr/>
        </p:nvSpPr>
        <p:spPr>
          <a:xfrm>
            <a:off x="5897880" y="1737360"/>
            <a:ext cx="2743200" cy="1828800"/>
          </a:xfrm>
          <a:prstGeom prst="rect">
            <a:avLst/>
          </a:prstGeom>
          <a:noFill/>
          <a:ln/>
        </p:spPr>
        <p:txBody>
          <a:bodyPr wrap="square" lIns="0" tIns="0" rIns="0" bIns="0" rtlCol="0" anchor="t"/>
          <a:lstStyle/>
          <a:p>
            <a:pPr indent="0" marL="0">
              <a:lnSpc>
                <a:spcPts val="1800"/>
              </a:lnSpc>
              <a:buNone/>
            </a:pPr>
            <a:r>
              <a:rPr lang="en-US" sz="1500" b="1" dirty="0">
                <a:solidFill>
                  <a:srgbClr val="0D1526"/>
                </a:solidFill>
                <a:latin typeface="Calibri" pitchFamily="34" charset="0"/>
                <a:ea typeface="Calibri" pitchFamily="34" charset="-122"/>
                <a:cs typeface="Calibri" pitchFamily="34" charset="-120"/>
              </a:rPr>
              <a:t>Let them struggle.
</a:t>
            </a:r>
            <a:pPr indent="0" marL="0">
              <a:lnSpc>
                <a:spcPts val="1800"/>
              </a:lnSpc>
              <a:buNone/>
            </a:pPr>
            <a:r>
              <a:rPr lang="en-US" sz="1300" dirty="0">
                <a:solidFill>
                  <a:srgbClr val="4B5670"/>
                </a:solidFill>
                <a:latin typeface="Calibri" pitchFamily="34" charset="0"/>
                <a:ea typeface="Calibri" pitchFamily="34" charset="-122"/>
                <a:cs typeface="Calibri" pitchFamily="34" charset="-120"/>
              </a:rPr>
              <a:t>That bewilderment is the argument for the whole workshop. Nobody can say what is being asked, because the paragraph does not say it: it describes the work, not the conclusion.</a:t>
            </a:r>
            <a:endParaRPr lang="en-US" sz="1500" dirty="0"/>
          </a:p>
        </p:txBody>
      </p:sp>
      <p:sp>
        <p:nvSpPr>
          <p:cNvPr id="7" name="Shape 5"/>
          <p:cNvSpPr/>
          <p:nvPr/>
        </p:nvSpPr>
        <p:spPr>
          <a:xfrm>
            <a:off x="5897880" y="3639312"/>
            <a:ext cx="777240" cy="310896"/>
          </a:xfrm>
          <a:prstGeom prst="roundRect">
            <a:avLst>
              <a:gd name="adj" fmla="val 50000"/>
            </a:avLst>
          </a:prstGeom>
          <a:solidFill>
            <a:srgbClr val="B3841C"/>
          </a:solidFill>
          <a:ln w="12700">
            <a:solidFill>
              <a:srgbClr val="B3841C"/>
            </a:solidFill>
            <a:prstDash val="solid"/>
          </a:ln>
        </p:spPr>
      </p:sp>
      <p:sp>
        <p:nvSpPr>
          <p:cNvPr id="8" name="Text 6"/>
          <p:cNvSpPr/>
          <p:nvPr/>
        </p:nvSpPr>
        <p:spPr>
          <a:xfrm>
            <a:off x="5897880" y="3639312"/>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10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THE METHOD IN ONE SLIDE</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The same facts, ordered, read in thirty seconds</a:t>
            </a:r>
            <a:endParaRPr lang="en-US" sz="2600" dirty="0"/>
          </a:p>
        </p:txBody>
      </p:sp>
      <p:sp>
        <p:nvSpPr>
          <p:cNvPr id="4" name="Shape 2"/>
          <p:cNvSpPr/>
          <p:nvPr/>
        </p:nvSpPr>
        <p:spPr>
          <a:xfrm>
            <a:off x="502920" y="1463040"/>
            <a:ext cx="3909060" cy="251460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31520" y="1627632"/>
            <a:ext cx="1828800" cy="228600"/>
          </a:xfrm>
          <a:prstGeom prst="rect">
            <a:avLst/>
          </a:prstGeom>
          <a:noFill/>
          <a:ln/>
        </p:spPr>
        <p:txBody>
          <a:bodyPr wrap="square" lIns="0" tIns="0" rIns="0" bIns="0" rtlCol="0" anchor="ctr"/>
          <a:lstStyle/>
          <a:p>
            <a:pPr indent="0" marL="0">
              <a:buNone/>
            </a:pPr>
            <a:r>
              <a:rPr lang="en-US" sz="1000" b="1" spc="150" kern="0" dirty="0">
                <a:solidFill>
                  <a:srgbClr val="A2382A"/>
                </a:solidFill>
                <a:latin typeface="Calibri" pitchFamily="34" charset="0"/>
                <a:ea typeface="Calibri" pitchFamily="34" charset="-122"/>
                <a:cs typeface="Calibri" pitchFamily="34" charset="-120"/>
              </a:rPr>
              <a:t>BEFORE</a:t>
            </a:r>
            <a:endParaRPr lang="en-US" sz="1000" dirty="0"/>
          </a:p>
        </p:txBody>
      </p:sp>
      <p:sp>
        <p:nvSpPr>
          <p:cNvPr id="6" name="Text 4"/>
          <p:cNvSpPr/>
          <p:nvPr/>
        </p:nvSpPr>
        <p:spPr>
          <a:xfrm>
            <a:off x="731520" y="1920240"/>
            <a:ext cx="3451860" cy="1737360"/>
          </a:xfrm>
          <a:prstGeom prst="rect">
            <a:avLst/>
          </a:prstGeom>
          <a:noFill/>
          <a:ln/>
        </p:spPr>
        <p:txBody>
          <a:bodyPr wrap="square" lIns="0" tIns="0" rIns="0" bIns="0" rtlCol="0" anchor="t"/>
          <a:lstStyle/>
          <a:p>
            <a:pPr indent="0" marL="0">
              <a:lnSpc>
                <a:spcPts val="1800"/>
              </a:lnSpc>
              <a:buNone/>
            </a:pPr>
            <a:r>
              <a:rPr lang="en-US" sz="1250" i="1" dirty="0">
                <a:solidFill>
                  <a:srgbClr val="4B5670"/>
                </a:solidFill>
                <a:latin typeface="Calibri" pitchFamily="34" charset="0"/>
                <a:ea typeface="Calibri" pitchFamily="34" charset="-122"/>
                <a:cs typeface="Calibri" pitchFamily="34" charset="-120"/>
              </a:rPr>
              <a:t>The quarterly review was performed... The methodology consisted of... Conclusions are presented in section 4.</a:t>
            </a:r>
            <a:endParaRPr lang="en-US" sz="1250" dirty="0"/>
          </a:p>
        </p:txBody>
      </p:sp>
      <p:sp>
        <p:nvSpPr>
          <p:cNvPr id="7" name="Shape 5"/>
          <p:cNvSpPr/>
          <p:nvPr/>
        </p:nvSpPr>
        <p:spPr>
          <a:xfrm>
            <a:off x="4732020" y="1463040"/>
            <a:ext cx="3909060" cy="251460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8" name="Text 6"/>
          <p:cNvSpPr/>
          <p:nvPr/>
        </p:nvSpPr>
        <p:spPr>
          <a:xfrm>
            <a:off x="4960620" y="1627632"/>
            <a:ext cx="1828800" cy="228600"/>
          </a:xfrm>
          <a:prstGeom prst="rect">
            <a:avLst/>
          </a:prstGeom>
          <a:noFill/>
          <a:ln/>
        </p:spPr>
        <p:txBody>
          <a:bodyPr wrap="square" lIns="0" tIns="0" rIns="0" bIns="0" rtlCol="0" anchor="ctr"/>
          <a:lstStyle/>
          <a:p>
            <a:pPr indent="0" marL="0">
              <a:buNone/>
            </a:pPr>
            <a:r>
              <a:rPr lang="en-US" sz="1000" b="1" spc="150" kern="0" dirty="0">
                <a:solidFill>
                  <a:srgbClr val="16624A"/>
                </a:solidFill>
                <a:latin typeface="Calibri" pitchFamily="34" charset="0"/>
                <a:ea typeface="Calibri" pitchFamily="34" charset="-122"/>
                <a:cs typeface="Calibri" pitchFamily="34" charset="-120"/>
              </a:rPr>
              <a:t>AFTER</a:t>
            </a:r>
            <a:endParaRPr lang="en-US" sz="1000" dirty="0"/>
          </a:p>
        </p:txBody>
      </p:sp>
      <p:sp>
        <p:nvSpPr>
          <p:cNvPr id="9" name="Text 7"/>
          <p:cNvSpPr/>
          <p:nvPr/>
        </p:nvSpPr>
        <p:spPr>
          <a:xfrm>
            <a:off x="4960620" y="1920240"/>
            <a:ext cx="3451860" cy="1828800"/>
          </a:xfrm>
          <a:prstGeom prst="rect">
            <a:avLst/>
          </a:prstGeom>
          <a:noFill/>
          <a:ln/>
        </p:spPr>
        <p:txBody>
          <a:bodyPr wrap="square" lIns="0" tIns="0" rIns="0" bIns="0" rtlCol="0" anchor="t"/>
          <a:lstStyle/>
          <a:p>
            <a:pPr indent="0" marL="0">
              <a:lnSpc>
                <a:spcPts val="1800"/>
              </a:lnSpc>
              <a:buNone/>
            </a:pPr>
            <a:r>
              <a:rPr lang="en-US" sz="1250" b="1" dirty="0">
                <a:solidFill>
                  <a:srgbClr val="0D1526"/>
                </a:solidFill>
                <a:latin typeface="Calibri" pitchFamily="34" charset="0"/>
                <a:ea typeface="Calibri" pitchFamily="34" charset="-122"/>
                <a:cs typeface="Calibri" pitchFamily="34" charset="-120"/>
              </a:rPr>
              <a:t>The deterioration is concentrated in a single sector and is reversible without changing risk appetite.
</a:t>
            </a:r>
            <a:pPr indent="0" marL="0">
              <a:lnSpc>
                <a:spcPts val="1800"/>
              </a:lnSpc>
              <a:buNone/>
            </a:pPr>
            <a:r>
              <a:rPr lang="en-US" sz="1250" dirty="0">
                <a:solidFill>
                  <a:srgbClr val="4B5670"/>
                </a:solidFill>
                <a:latin typeface="Calibri" pitchFamily="34" charset="0"/>
                <a:ea typeface="Calibri" pitchFamily="34" charset="-122"/>
                <a:cs typeface="Calibri" pitchFamily="34" charset="-120"/>
              </a:rPr>
              <a:t>Export manufacturing accounts for 70% of downgrades. The rest of the book is stable. Approval of the sector adjustment is needed on 15 September.</a:t>
            </a:r>
            <a:endParaRPr lang="en-US" sz="1250" dirty="0"/>
          </a:p>
        </p:txBody>
      </p:sp>
      <p:sp>
        <p:nvSpPr>
          <p:cNvPr id="10" name="Text 8"/>
          <p:cNvSpPr/>
          <p:nvPr/>
        </p:nvSpPr>
        <p:spPr>
          <a:xfrm>
            <a:off x="502920" y="4160520"/>
            <a:ext cx="8138160" cy="274320"/>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The order changed, not the content.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THE UNDERLYING CAUSE</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FFFFFF"/>
                </a:solidFill>
                <a:latin typeface="Cambria" pitchFamily="34" charset="0"/>
                <a:ea typeface="Cambria" pitchFamily="34" charset="-122"/>
                <a:cs typeface="Cambria" pitchFamily="34" charset="-120"/>
              </a:rPr>
              <a:t>We write in the order we worked, not the order in which decisions are made</a:t>
            </a:r>
            <a:endParaRPr lang="en-US" sz="2600" dirty="0"/>
          </a:p>
        </p:txBody>
      </p:sp>
      <p:sp>
        <p:nvSpPr>
          <p:cNvPr id="4" name="Text 2"/>
          <p:cNvSpPr/>
          <p:nvPr/>
        </p:nvSpPr>
        <p:spPr>
          <a:xfrm>
            <a:off x="502920" y="1965960"/>
            <a:ext cx="1920240" cy="365760"/>
          </a:xfrm>
          <a:prstGeom prst="rect">
            <a:avLst/>
          </a:prstGeom>
          <a:noFill/>
          <a:ln/>
        </p:spPr>
        <p:txBody>
          <a:bodyPr wrap="square" lIns="0" tIns="0" rIns="0" bIns="0" rtlCol="0" anchor="ctr"/>
          <a:lstStyle/>
          <a:p>
            <a:pPr indent="0" marL="0">
              <a:buNone/>
            </a:pPr>
            <a:r>
              <a:rPr lang="en-US" sz="1200" b="1" dirty="0">
                <a:solidFill>
                  <a:srgbClr val="8794AF"/>
                </a:solidFill>
                <a:latin typeface="Calibri" pitchFamily="34" charset="0"/>
                <a:ea typeface="Calibri" pitchFamily="34" charset="-122"/>
                <a:cs typeface="Calibri" pitchFamily="34" charset="-120"/>
              </a:rPr>
              <a:t>Order of the analysis</a:t>
            </a:r>
            <a:endParaRPr lang="en-US" sz="1200" dirty="0"/>
          </a:p>
        </p:txBody>
      </p:sp>
      <p:sp>
        <p:nvSpPr>
          <p:cNvPr id="5" name="Shape 3"/>
          <p:cNvSpPr/>
          <p:nvPr/>
        </p:nvSpPr>
        <p:spPr>
          <a:xfrm>
            <a:off x="2514600" y="1965960"/>
            <a:ext cx="1417320" cy="365760"/>
          </a:xfrm>
          <a:prstGeom prst="rect">
            <a:avLst/>
          </a:prstGeom>
          <a:solidFill>
            <a:srgbClr val="223050"/>
          </a:solidFill>
          <a:ln w="9525">
            <a:solidFill>
              <a:srgbClr val="2E3E63"/>
            </a:solidFill>
            <a:prstDash val="solid"/>
          </a:ln>
        </p:spPr>
      </p:sp>
      <p:sp>
        <p:nvSpPr>
          <p:cNvPr id="6" name="Text 4"/>
          <p:cNvSpPr/>
          <p:nvPr/>
        </p:nvSpPr>
        <p:spPr>
          <a:xfrm>
            <a:off x="2514600" y="196596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Data</a:t>
            </a:r>
            <a:endParaRPr lang="en-US" sz="1050" dirty="0"/>
          </a:p>
        </p:txBody>
      </p:sp>
      <p:sp>
        <p:nvSpPr>
          <p:cNvPr id="7" name="Shape 5"/>
          <p:cNvSpPr/>
          <p:nvPr/>
        </p:nvSpPr>
        <p:spPr>
          <a:xfrm>
            <a:off x="4069080" y="1965960"/>
            <a:ext cx="1417320" cy="365760"/>
          </a:xfrm>
          <a:prstGeom prst="rect">
            <a:avLst/>
          </a:prstGeom>
          <a:solidFill>
            <a:srgbClr val="223050"/>
          </a:solidFill>
          <a:ln w="9525">
            <a:solidFill>
              <a:srgbClr val="2E3E63"/>
            </a:solidFill>
            <a:prstDash val="solid"/>
          </a:ln>
        </p:spPr>
      </p:sp>
      <p:sp>
        <p:nvSpPr>
          <p:cNvPr id="8" name="Text 6"/>
          <p:cNvSpPr/>
          <p:nvPr/>
        </p:nvSpPr>
        <p:spPr>
          <a:xfrm>
            <a:off x="4069080" y="196596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Method</a:t>
            </a:r>
            <a:endParaRPr lang="en-US" sz="1050" dirty="0"/>
          </a:p>
        </p:txBody>
      </p:sp>
      <p:sp>
        <p:nvSpPr>
          <p:cNvPr id="9" name="Shape 7"/>
          <p:cNvSpPr/>
          <p:nvPr/>
        </p:nvSpPr>
        <p:spPr>
          <a:xfrm>
            <a:off x="5623560" y="1965960"/>
            <a:ext cx="1417320" cy="365760"/>
          </a:xfrm>
          <a:prstGeom prst="rect">
            <a:avLst/>
          </a:prstGeom>
          <a:solidFill>
            <a:srgbClr val="223050"/>
          </a:solidFill>
          <a:ln w="9525">
            <a:solidFill>
              <a:srgbClr val="2E3E63"/>
            </a:solidFill>
            <a:prstDash val="solid"/>
          </a:ln>
        </p:spPr>
      </p:sp>
      <p:sp>
        <p:nvSpPr>
          <p:cNvPr id="10" name="Text 8"/>
          <p:cNvSpPr/>
          <p:nvPr/>
        </p:nvSpPr>
        <p:spPr>
          <a:xfrm>
            <a:off x="5623560" y="196596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Results</a:t>
            </a:r>
            <a:endParaRPr lang="en-US" sz="1050" dirty="0"/>
          </a:p>
        </p:txBody>
      </p:sp>
      <p:sp>
        <p:nvSpPr>
          <p:cNvPr id="11" name="Shape 9"/>
          <p:cNvSpPr/>
          <p:nvPr/>
        </p:nvSpPr>
        <p:spPr>
          <a:xfrm>
            <a:off x="7178040" y="1965960"/>
            <a:ext cx="1417320" cy="365760"/>
          </a:xfrm>
          <a:prstGeom prst="rect">
            <a:avLst/>
          </a:prstGeom>
          <a:solidFill>
            <a:srgbClr val="8794AF"/>
          </a:solidFill>
          <a:ln w="9525">
            <a:solidFill>
              <a:srgbClr val="8794AF"/>
            </a:solidFill>
            <a:prstDash val="solid"/>
          </a:ln>
        </p:spPr>
      </p:sp>
      <p:sp>
        <p:nvSpPr>
          <p:cNvPr id="12" name="Text 10"/>
          <p:cNvSpPr/>
          <p:nvPr/>
        </p:nvSpPr>
        <p:spPr>
          <a:xfrm>
            <a:off x="7178040" y="1965960"/>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Conclusion</a:t>
            </a:r>
            <a:endParaRPr lang="en-US" sz="1050" dirty="0"/>
          </a:p>
        </p:txBody>
      </p:sp>
      <p:sp>
        <p:nvSpPr>
          <p:cNvPr id="13" name="Text 11"/>
          <p:cNvSpPr/>
          <p:nvPr/>
        </p:nvSpPr>
        <p:spPr>
          <a:xfrm>
            <a:off x="502920" y="2788920"/>
            <a:ext cx="1920240" cy="365760"/>
          </a:xfrm>
          <a:prstGeom prst="rect">
            <a:avLst/>
          </a:prstGeom>
          <a:noFill/>
          <a:ln/>
        </p:spPr>
        <p:txBody>
          <a:bodyPr wrap="square" lIns="0" tIns="0" rIns="0" bIns="0" rtlCol="0" anchor="ctr"/>
          <a:lstStyle/>
          <a:p>
            <a:pPr indent="0" marL="0">
              <a:buNone/>
            </a:pPr>
            <a:r>
              <a:rPr lang="en-US" sz="1200" b="1" dirty="0">
                <a:solidFill>
                  <a:srgbClr val="B3841C"/>
                </a:solidFill>
                <a:latin typeface="Calibri" pitchFamily="34" charset="0"/>
                <a:ea typeface="Calibri" pitchFamily="34" charset="-122"/>
                <a:cs typeface="Calibri" pitchFamily="34" charset="-120"/>
              </a:rPr>
              <a:t>Order of the decision</a:t>
            </a:r>
            <a:endParaRPr lang="en-US" sz="1200" dirty="0"/>
          </a:p>
        </p:txBody>
      </p:sp>
      <p:sp>
        <p:nvSpPr>
          <p:cNvPr id="14" name="Shape 12"/>
          <p:cNvSpPr/>
          <p:nvPr/>
        </p:nvSpPr>
        <p:spPr>
          <a:xfrm>
            <a:off x="2514600" y="2788920"/>
            <a:ext cx="1417320" cy="365760"/>
          </a:xfrm>
          <a:prstGeom prst="rect">
            <a:avLst/>
          </a:prstGeom>
          <a:solidFill>
            <a:srgbClr val="B3841C"/>
          </a:solidFill>
          <a:ln w="9525">
            <a:solidFill>
              <a:srgbClr val="B3841C"/>
            </a:solidFill>
            <a:prstDash val="solid"/>
          </a:ln>
        </p:spPr>
      </p:sp>
      <p:sp>
        <p:nvSpPr>
          <p:cNvPr id="15" name="Text 13"/>
          <p:cNvSpPr/>
          <p:nvPr/>
        </p:nvSpPr>
        <p:spPr>
          <a:xfrm>
            <a:off x="2514600" y="2788920"/>
            <a:ext cx="1417320" cy="365760"/>
          </a:xfrm>
          <a:prstGeom prst="rect">
            <a:avLst/>
          </a:prstGeom>
          <a:noFill/>
          <a:ln/>
        </p:spPr>
        <p:txBody>
          <a:bodyPr wrap="square" lIns="0" tIns="0" rIns="0" bIns="0" rtlCol="0" anchor="ctr"/>
          <a:lstStyle/>
          <a:p>
            <a:pPr algn="ctr" indent="0" marL="0">
              <a:buNone/>
            </a:pPr>
            <a:r>
              <a:rPr lang="en-US" sz="1050" b="1" dirty="0">
                <a:solidFill>
                  <a:srgbClr val="17120A"/>
                </a:solidFill>
                <a:latin typeface="Calibri" pitchFamily="34" charset="0"/>
                <a:ea typeface="Calibri" pitchFamily="34" charset="-122"/>
                <a:cs typeface="Calibri" pitchFamily="34" charset="-120"/>
              </a:rPr>
              <a:t>Conclusion</a:t>
            </a:r>
            <a:endParaRPr lang="en-US" sz="1050" dirty="0"/>
          </a:p>
        </p:txBody>
      </p:sp>
      <p:sp>
        <p:nvSpPr>
          <p:cNvPr id="16" name="Shape 14"/>
          <p:cNvSpPr/>
          <p:nvPr/>
        </p:nvSpPr>
        <p:spPr>
          <a:xfrm>
            <a:off x="4069080" y="2788920"/>
            <a:ext cx="1417320" cy="365760"/>
          </a:xfrm>
          <a:prstGeom prst="rect">
            <a:avLst/>
          </a:prstGeom>
          <a:solidFill>
            <a:srgbClr val="223050"/>
          </a:solidFill>
          <a:ln w="9525">
            <a:solidFill>
              <a:srgbClr val="2E3E63"/>
            </a:solidFill>
            <a:prstDash val="solid"/>
          </a:ln>
        </p:spPr>
      </p:sp>
      <p:sp>
        <p:nvSpPr>
          <p:cNvPr id="17" name="Text 15"/>
          <p:cNvSpPr/>
          <p:nvPr/>
        </p:nvSpPr>
        <p:spPr>
          <a:xfrm>
            <a:off x="4069080" y="278892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Reasons</a:t>
            </a:r>
            <a:endParaRPr lang="en-US" sz="1050" dirty="0"/>
          </a:p>
        </p:txBody>
      </p:sp>
      <p:sp>
        <p:nvSpPr>
          <p:cNvPr id="18" name="Shape 16"/>
          <p:cNvSpPr/>
          <p:nvPr/>
        </p:nvSpPr>
        <p:spPr>
          <a:xfrm>
            <a:off x="5623560" y="2788920"/>
            <a:ext cx="1417320" cy="365760"/>
          </a:xfrm>
          <a:prstGeom prst="rect">
            <a:avLst/>
          </a:prstGeom>
          <a:solidFill>
            <a:srgbClr val="223050"/>
          </a:solidFill>
          <a:ln w="9525">
            <a:solidFill>
              <a:srgbClr val="2E3E63"/>
            </a:solidFill>
            <a:prstDash val="solid"/>
          </a:ln>
        </p:spPr>
      </p:sp>
      <p:sp>
        <p:nvSpPr>
          <p:cNvPr id="19" name="Text 17"/>
          <p:cNvSpPr/>
          <p:nvPr/>
        </p:nvSpPr>
        <p:spPr>
          <a:xfrm>
            <a:off x="5623560" y="278892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Evidence</a:t>
            </a:r>
            <a:endParaRPr lang="en-US" sz="1050" dirty="0"/>
          </a:p>
        </p:txBody>
      </p:sp>
      <p:sp>
        <p:nvSpPr>
          <p:cNvPr id="20" name="Shape 18"/>
          <p:cNvSpPr/>
          <p:nvPr/>
        </p:nvSpPr>
        <p:spPr>
          <a:xfrm>
            <a:off x="7178040" y="2788920"/>
            <a:ext cx="1417320" cy="365760"/>
          </a:xfrm>
          <a:prstGeom prst="rect">
            <a:avLst/>
          </a:prstGeom>
          <a:solidFill>
            <a:srgbClr val="223050"/>
          </a:solidFill>
          <a:ln w="9525">
            <a:solidFill>
              <a:srgbClr val="2E3E63"/>
            </a:solidFill>
            <a:prstDash val="solid"/>
          </a:ln>
        </p:spPr>
      </p:sp>
      <p:sp>
        <p:nvSpPr>
          <p:cNvPr id="21" name="Text 19"/>
          <p:cNvSpPr/>
          <p:nvPr/>
        </p:nvSpPr>
        <p:spPr>
          <a:xfrm>
            <a:off x="7178040" y="2788920"/>
            <a:ext cx="1417320" cy="365760"/>
          </a:xfrm>
          <a:prstGeom prst="rect">
            <a:avLst/>
          </a:prstGeom>
          <a:noFill/>
          <a:ln/>
        </p:spPr>
        <p:txBody>
          <a:bodyPr wrap="square" lIns="0" tIns="0" rIns="0" bIns="0" rtlCol="0" anchor="ctr"/>
          <a:lstStyle/>
          <a:p>
            <a:pPr algn="ctr" indent="0" marL="0">
              <a:buNone/>
            </a:pPr>
            <a:r>
              <a:rPr lang="en-US" sz="1050" dirty="0">
                <a:solidFill>
                  <a:srgbClr val="C6CFE2"/>
                </a:solidFill>
                <a:latin typeface="Calibri" pitchFamily="34" charset="0"/>
                <a:ea typeface="Calibri" pitchFamily="34" charset="-122"/>
                <a:cs typeface="Calibri" pitchFamily="34" charset="-120"/>
              </a:rPr>
              <a:t>Detail</a:t>
            </a:r>
            <a:endParaRPr lang="en-US" sz="1050" dirty="0"/>
          </a:p>
        </p:txBody>
      </p:sp>
      <p:sp>
        <p:nvSpPr>
          <p:cNvPr id="22" name="Text 20"/>
          <p:cNvSpPr/>
          <p:nvPr/>
        </p:nvSpPr>
        <p:spPr>
          <a:xfrm>
            <a:off x="502920" y="3794760"/>
            <a:ext cx="7863840" cy="548640"/>
          </a:xfrm>
          <a:prstGeom prst="rect">
            <a:avLst/>
          </a:prstGeom>
          <a:noFill/>
          <a:ln/>
        </p:spPr>
        <p:txBody>
          <a:bodyPr wrap="square" lIns="0" tIns="0" rIns="0" bIns="0" rtlCol="0" anchor="t"/>
          <a:lstStyle/>
          <a:p>
            <a:pPr indent="0" marL="0">
              <a:lnSpc>
                <a:spcPts val="1900"/>
              </a:lnSpc>
              <a:buNone/>
            </a:pPr>
            <a:r>
              <a:rPr lang="en-US" sz="1300" dirty="0">
                <a:solidFill>
                  <a:srgbClr val="AEB9D0"/>
                </a:solidFill>
                <a:latin typeface="Calibri" pitchFamily="34" charset="0"/>
                <a:ea typeface="Calibri" pitchFamily="34" charset="-122"/>
                <a:cs typeface="Calibri" pitchFamily="34" charset="-120"/>
              </a:rPr>
              <a:t>The first is right for proving something. The second is the only one that works for deciding in twenty minutes.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RULE 1 OF 3</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A single idea governs the document; everything else supports it</a:t>
            </a:r>
            <a:endParaRPr lang="en-US" sz="2600" dirty="0"/>
          </a:p>
        </p:txBody>
      </p:sp>
      <p:sp>
        <p:nvSpPr>
          <p:cNvPr id="4" name="Shape 2"/>
          <p:cNvSpPr/>
          <p:nvPr/>
        </p:nvSpPr>
        <p:spPr>
          <a:xfrm>
            <a:off x="2377440" y="1572768"/>
            <a:ext cx="4389120" cy="566928"/>
          </a:xfrm>
          <a:prstGeom prst="rect">
            <a:avLst/>
          </a:prstGeom>
          <a:solidFill>
            <a:srgbClr val="B3841C"/>
          </a:solidFill>
          <a:ln w="12700">
            <a:solidFill>
              <a:srgbClr val="B3841C"/>
            </a:solidFill>
            <a:prstDash val="solid"/>
          </a:ln>
        </p:spPr>
      </p:sp>
      <p:sp>
        <p:nvSpPr>
          <p:cNvPr id="5" name="Text 3"/>
          <p:cNvSpPr/>
          <p:nvPr/>
        </p:nvSpPr>
        <p:spPr>
          <a:xfrm>
            <a:off x="2377440" y="1572768"/>
            <a:ext cx="4389120" cy="566928"/>
          </a:xfrm>
          <a:prstGeom prst="rect">
            <a:avLst/>
          </a:prstGeom>
          <a:noFill/>
          <a:ln/>
        </p:spPr>
        <p:txBody>
          <a:bodyPr wrap="square" lIns="0" tIns="0" rIns="0" bIns="0" rtlCol="0" anchor="ctr"/>
          <a:lstStyle/>
          <a:p>
            <a:pPr algn="ctr" indent="0" marL="0">
              <a:buNone/>
            </a:pPr>
            <a:r>
              <a:rPr lang="en-US" sz="1250" b="1" dirty="0">
                <a:solidFill>
                  <a:srgbClr val="17120A"/>
                </a:solidFill>
                <a:latin typeface="Calibri" pitchFamily="34" charset="0"/>
                <a:ea typeface="Calibri" pitchFamily="34" charset="-122"/>
                <a:cs typeface="Calibri" pitchFamily="34" charset="-120"/>
              </a:rPr>
              <a:t>The deterioration is concentrated in one sector and is reversible</a:t>
            </a:r>
            <a:endParaRPr lang="en-US" sz="1250" dirty="0"/>
          </a:p>
        </p:txBody>
      </p:sp>
      <p:sp>
        <p:nvSpPr>
          <p:cNvPr id="6" name="Text 4"/>
          <p:cNvSpPr/>
          <p:nvPr/>
        </p:nvSpPr>
        <p:spPr>
          <a:xfrm>
            <a:off x="6903720" y="1709928"/>
            <a:ext cx="1737360" cy="274320"/>
          </a:xfrm>
          <a:prstGeom prst="rect">
            <a:avLst/>
          </a:prstGeom>
          <a:noFill/>
          <a:ln/>
        </p:spPr>
        <p:txBody>
          <a:bodyPr wrap="square" lIns="0" tIns="0" rIns="0" bIns="0" rtlCol="0" anchor="ctr"/>
          <a:lstStyle/>
          <a:p>
            <a:pPr indent="0" marL="0">
              <a:buNone/>
            </a:pPr>
            <a:r>
              <a:rPr lang="en-US" sz="1000" i="1" dirty="0">
                <a:solidFill>
                  <a:srgbClr val="B3841C"/>
                </a:solidFill>
                <a:latin typeface="Calibri" pitchFamily="34" charset="0"/>
                <a:ea typeface="Calibri" pitchFamily="34" charset="-122"/>
                <a:cs typeface="Calibri" pitchFamily="34" charset="-120"/>
              </a:rPr>
              <a:t>governing thought</a:t>
            </a:r>
            <a:endParaRPr lang="en-US" sz="1000" dirty="0"/>
          </a:p>
        </p:txBody>
      </p:sp>
      <p:sp>
        <p:nvSpPr>
          <p:cNvPr id="7" name="Shape 5"/>
          <p:cNvSpPr/>
          <p:nvPr/>
        </p:nvSpPr>
        <p:spPr>
          <a:xfrm>
            <a:off x="4572000" y="2139696"/>
            <a:ext cx="0" cy="237744"/>
          </a:xfrm>
          <a:prstGeom prst="line">
            <a:avLst/>
          </a:prstGeom>
          <a:noFill/>
          <a:ln w="12700">
            <a:solidFill>
              <a:srgbClr val="B3841C"/>
            </a:solidFill>
            <a:prstDash val="solid"/>
          </a:ln>
        </p:spPr>
      </p:sp>
      <p:sp>
        <p:nvSpPr>
          <p:cNvPr id="8" name="Shape 6"/>
          <p:cNvSpPr/>
          <p:nvPr/>
        </p:nvSpPr>
        <p:spPr>
          <a:xfrm>
            <a:off x="2377440" y="2377440"/>
            <a:ext cx="2103120" cy="56692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9" name="Text 7"/>
          <p:cNvSpPr/>
          <p:nvPr/>
        </p:nvSpPr>
        <p:spPr>
          <a:xfrm>
            <a:off x="2468880" y="2377440"/>
            <a:ext cx="1920240" cy="566928"/>
          </a:xfrm>
          <a:prstGeom prst="rect">
            <a:avLst/>
          </a:prstGeom>
          <a:noFill/>
          <a:ln/>
        </p:spPr>
        <p:txBody>
          <a:bodyPr wrap="square" lIns="0" tIns="0" rIns="0" bIns="0" rtlCol="0" anchor="ctr"/>
          <a:lstStyle/>
          <a:p>
            <a:pPr algn="ctr" indent="0" marL="0">
              <a:buNone/>
            </a:pPr>
            <a:r>
              <a:rPr lang="en-US" sz="1100" dirty="0">
                <a:solidFill>
                  <a:srgbClr val="0D1526"/>
                </a:solidFill>
                <a:latin typeface="Calibri" pitchFamily="34" charset="0"/>
                <a:ea typeface="Calibri" pitchFamily="34" charset="-122"/>
                <a:cs typeface="Calibri" pitchFamily="34" charset="-120"/>
              </a:rPr>
              <a:t>Manufacturing explains 70%</a:t>
            </a:r>
            <a:endParaRPr lang="en-US" sz="1100" dirty="0"/>
          </a:p>
        </p:txBody>
      </p:sp>
      <p:sp>
        <p:nvSpPr>
          <p:cNvPr id="10" name="Shape 8"/>
          <p:cNvSpPr/>
          <p:nvPr/>
        </p:nvSpPr>
        <p:spPr>
          <a:xfrm>
            <a:off x="4663440" y="2377440"/>
            <a:ext cx="2103120" cy="56692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1" name="Text 9"/>
          <p:cNvSpPr/>
          <p:nvPr/>
        </p:nvSpPr>
        <p:spPr>
          <a:xfrm>
            <a:off x="4754880" y="2377440"/>
            <a:ext cx="1920240" cy="566928"/>
          </a:xfrm>
          <a:prstGeom prst="rect">
            <a:avLst/>
          </a:prstGeom>
          <a:noFill/>
          <a:ln/>
        </p:spPr>
        <p:txBody>
          <a:bodyPr wrap="square" lIns="0" tIns="0" rIns="0" bIns="0" rtlCol="0" anchor="ctr"/>
          <a:lstStyle/>
          <a:p>
            <a:pPr algn="ctr" indent="0" marL="0">
              <a:buNone/>
            </a:pPr>
            <a:r>
              <a:rPr lang="en-US" sz="1100" dirty="0">
                <a:solidFill>
                  <a:srgbClr val="0D1526"/>
                </a:solidFill>
                <a:latin typeface="Calibri" pitchFamily="34" charset="0"/>
                <a:ea typeface="Calibri" pitchFamily="34" charset="-122"/>
                <a:cs typeface="Calibri" pitchFamily="34" charset="-120"/>
              </a:rPr>
              <a:t>The rest stays stable</a:t>
            </a:r>
            <a:endParaRPr lang="en-US" sz="1100" dirty="0"/>
          </a:p>
        </p:txBody>
      </p:sp>
      <p:sp>
        <p:nvSpPr>
          <p:cNvPr id="12" name="Shape 10"/>
          <p:cNvSpPr/>
          <p:nvPr/>
        </p:nvSpPr>
        <p:spPr>
          <a:xfrm>
            <a:off x="4572000" y="2944368"/>
            <a:ext cx="0" cy="237744"/>
          </a:xfrm>
          <a:prstGeom prst="line">
            <a:avLst/>
          </a:prstGeom>
          <a:noFill/>
          <a:ln w="12700">
            <a:solidFill>
              <a:srgbClr val="B3841C"/>
            </a:solidFill>
            <a:prstDash val="solid"/>
          </a:ln>
        </p:spPr>
      </p:sp>
      <p:sp>
        <p:nvSpPr>
          <p:cNvPr id="13" name="Shape 11"/>
          <p:cNvSpPr/>
          <p:nvPr/>
        </p:nvSpPr>
        <p:spPr>
          <a:xfrm>
            <a:off x="1600200" y="3182112"/>
            <a:ext cx="1965960" cy="56692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4" name="Text 12"/>
          <p:cNvSpPr/>
          <p:nvPr/>
        </p:nvSpPr>
        <p:spPr>
          <a:xfrm>
            <a:off x="1673352" y="3182112"/>
            <a:ext cx="1819656" cy="566928"/>
          </a:xfrm>
          <a:prstGeom prst="rect">
            <a:avLst/>
          </a:prstGeom>
          <a:noFill/>
          <a:ln/>
        </p:spPr>
        <p:txBody>
          <a:bodyPr wrap="square" lIns="0" tIns="0" rIns="0" bIns="0" rtlCol="0" anchor="ctr"/>
          <a:lstStyle/>
          <a:p>
            <a:pPr algn="ctr" indent="0" marL="0">
              <a:buNone/>
            </a:pPr>
            <a:r>
              <a:rPr lang="en-US" sz="950" dirty="0">
                <a:solidFill>
                  <a:srgbClr val="4B5670"/>
                </a:solidFill>
                <a:latin typeface="Calibri" pitchFamily="34" charset="0"/>
                <a:ea typeface="Calibri" pitchFamily="34" charset="-122"/>
                <a:cs typeface="Calibri" pitchFamily="34" charset="-120"/>
              </a:rPr>
              <a:t>Originated under the old cut-off</a:t>
            </a:r>
            <a:endParaRPr lang="en-US" sz="950" dirty="0"/>
          </a:p>
        </p:txBody>
      </p:sp>
      <p:sp>
        <p:nvSpPr>
          <p:cNvPr id="15" name="Shape 13"/>
          <p:cNvSpPr/>
          <p:nvPr/>
        </p:nvSpPr>
        <p:spPr>
          <a:xfrm>
            <a:off x="3703320" y="3182112"/>
            <a:ext cx="1965960" cy="56692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6" name="Text 14"/>
          <p:cNvSpPr/>
          <p:nvPr/>
        </p:nvSpPr>
        <p:spPr>
          <a:xfrm>
            <a:off x="3776472" y="3182112"/>
            <a:ext cx="1819656" cy="566928"/>
          </a:xfrm>
          <a:prstGeom prst="rect">
            <a:avLst/>
          </a:prstGeom>
          <a:noFill/>
          <a:ln/>
        </p:spPr>
        <p:txBody>
          <a:bodyPr wrap="square" lIns="0" tIns="0" rIns="0" bIns="0" rtlCol="0" anchor="ctr"/>
          <a:lstStyle/>
          <a:p>
            <a:pPr algn="ctr" indent="0" marL="0">
              <a:buNone/>
            </a:pPr>
            <a:r>
              <a:rPr lang="en-US" sz="950" dirty="0">
                <a:solidFill>
                  <a:srgbClr val="4B5670"/>
                </a:solidFill>
                <a:latin typeface="Calibri" pitchFamily="34" charset="0"/>
                <a:ea typeface="Calibri" pitchFamily="34" charset="-122"/>
                <a:cs typeface="Calibri" pitchFamily="34" charset="-120"/>
              </a:rPr>
              <a:t>12 borrowers hold the exposure</a:t>
            </a:r>
            <a:endParaRPr lang="en-US" sz="950" dirty="0"/>
          </a:p>
        </p:txBody>
      </p:sp>
      <p:sp>
        <p:nvSpPr>
          <p:cNvPr id="17" name="Shape 15"/>
          <p:cNvSpPr/>
          <p:nvPr/>
        </p:nvSpPr>
        <p:spPr>
          <a:xfrm>
            <a:off x="5806440" y="3182112"/>
            <a:ext cx="1965960" cy="56692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8" name="Text 16"/>
          <p:cNvSpPr/>
          <p:nvPr/>
        </p:nvSpPr>
        <p:spPr>
          <a:xfrm>
            <a:off x="5879592" y="3182112"/>
            <a:ext cx="1819656" cy="566928"/>
          </a:xfrm>
          <a:prstGeom prst="rect">
            <a:avLst/>
          </a:prstGeom>
          <a:noFill/>
          <a:ln/>
        </p:spPr>
        <p:txBody>
          <a:bodyPr wrap="square" lIns="0" tIns="0" rIns="0" bIns="0" rtlCol="0" anchor="ctr"/>
          <a:lstStyle/>
          <a:p>
            <a:pPr algn="ctr" indent="0" marL="0">
              <a:buNone/>
            </a:pPr>
            <a:r>
              <a:rPr lang="en-US" sz="950" dirty="0">
                <a:solidFill>
                  <a:srgbClr val="4B5670"/>
                </a:solidFill>
                <a:latin typeface="Calibri" pitchFamily="34" charset="0"/>
                <a:ea typeface="Calibri" pitchFamily="34" charset="-122"/>
                <a:cs typeface="Calibri" pitchFamily="34" charset="-120"/>
              </a:rPr>
              <a:t>The model has not degraded</a:t>
            </a:r>
            <a:endParaRPr lang="en-US" sz="950" dirty="0"/>
          </a:p>
        </p:txBody>
      </p:sp>
      <p:sp>
        <p:nvSpPr>
          <p:cNvPr id="19" name="Text 17"/>
          <p:cNvSpPr/>
          <p:nvPr/>
        </p:nvSpPr>
        <p:spPr>
          <a:xfrm>
            <a:off x="502920" y="4041648"/>
            <a:ext cx="8138160" cy="274320"/>
          </a:xfrm>
          <a:prstGeom prst="rect">
            <a:avLst/>
          </a:prstGeom>
          <a:noFill/>
          <a:ln/>
        </p:spPr>
        <p:txBody>
          <a:bodyPr wrap="square" lIns="0" tIns="0" rIns="0" bIns="0" rtlCol="0" anchor="ctr"/>
          <a:lstStyle/>
          <a:p>
            <a:pPr algn="ctr" indent="0" marL="0">
              <a:buNone/>
            </a:pPr>
            <a:r>
              <a:rPr lang="en-US" sz="1200" dirty="0">
                <a:solidFill>
                  <a:srgbClr val="77809A"/>
                </a:solidFill>
                <a:latin typeface="Calibri" pitchFamily="34" charset="0"/>
                <a:ea typeface="Calibri" pitchFamily="34" charset="-122"/>
                <a:cs typeface="Calibri" pitchFamily="34" charset="-120"/>
              </a:rPr>
              <a:t>Each level answers the question raised by the one above.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RULE 2 OF 3</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The introduction installs the question your document answers</a:t>
            </a:r>
            <a:endParaRPr lang="en-US" sz="2600" dirty="0"/>
          </a:p>
        </p:txBody>
      </p:sp>
      <p:sp>
        <p:nvSpPr>
          <p:cNvPr id="4" name="Shape 2"/>
          <p:cNvSpPr/>
          <p:nvPr/>
        </p:nvSpPr>
        <p:spPr>
          <a:xfrm>
            <a:off x="502920" y="1463040"/>
            <a:ext cx="8138160" cy="60350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Shape 3"/>
          <p:cNvSpPr/>
          <p:nvPr/>
        </p:nvSpPr>
        <p:spPr>
          <a:xfrm>
            <a:off x="502920" y="1463040"/>
            <a:ext cx="603504" cy="603504"/>
          </a:xfrm>
          <a:prstGeom prst="rect">
            <a:avLst/>
          </a:prstGeom>
          <a:solidFill>
            <a:srgbClr val="0D1526"/>
          </a:solidFill>
          <a:ln w="12700">
            <a:solidFill>
              <a:srgbClr val="0D1526"/>
            </a:solidFill>
            <a:prstDash val="solid"/>
          </a:ln>
        </p:spPr>
      </p:sp>
      <p:sp>
        <p:nvSpPr>
          <p:cNvPr id="6" name="Text 4"/>
          <p:cNvSpPr/>
          <p:nvPr/>
        </p:nvSpPr>
        <p:spPr>
          <a:xfrm>
            <a:off x="502920" y="1463040"/>
            <a:ext cx="603504" cy="603504"/>
          </a:xfrm>
          <a:prstGeom prst="rect">
            <a:avLst/>
          </a:prstGeom>
          <a:noFill/>
          <a:ln/>
        </p:spPr>
        <p:txBody>
          <a:bodyPr wrap="square" lIns="0" tIns="0" rIns="0" bIns="0" rtlCol="0" anchor="ctr"/>
          <a:lstStyle/>
          <a:p>
            <a:pPr algn="ctr" indent="0" marL="0">
              <a:buNone/>
            </a:pPr>
            <a:r>
              <a:rPr lang="en-US" sz="2200" b="1" dirty="0">
                <a:solidFill>
                  <a:srgbClr val="B3841C"/>
                </a:solidFill>
                <a:latin typeface="Cambria" pitchFamily="34" charset="0"/>
                <a:ea typeface="Cambria" pitchFamily="34" charset="-122"/>
                <a:cs typeface="Cambria" pitchFamily="34" charset="-120"/>
              </a:rPr>
              <a:t>S</a:t>
            </a:r>
            <a:endParaRPr lang="en-US" sz="2200" dirty="0"/>
          </a:p>
        </p:txBody>
      </p:sp>
      <p:sp>
        <p:nvSpPr>
          <p:cNvPr id="7" name="Text 5"/>
          <p:cNvSpPr/>
          <p:nvPr/>
        </p:nvSpPr>
        <p:spPr>
          <a:xfrm>
            <a:off x="1307592" y="1463040"/>
            <a:ext cx="1554480" cy="603504"/>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Situation</a:t>
            </a:r>
            <a:endParaRPr lang="en-US" sz="1350" dirty="0"/>
          </a:p>
        </p:txBody>
      </p:sp>
      <p:sp>
        <p:nvSpPr>
          <p:cNvPr id="8" name="Text 6"/>
          <p:cNvSpPr/>
          <p:nvPr/>
        </p:nvSpPr>
        <p:spPr>
          <a:xfrm>
            <a:off x="2880360" y="1463040"/>
            <a:ext cx="5577840" cy="60350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A fact the reader accepts without argument. Two lines.</a:t>
            </a:r>
            <a:endParaRPr lang="en-US" sz="1200" dirty="0"/>
          </a:p>
        </p:txBody>
      </p:sp>
      <p:sp>
        <p:nvSpPr>
          <p:cNvPr id="9" name="Shape 7"/>
          <p:cNvSpPr/>
          <p:nvPr/>
        </p:nvSpPr>
        <p:spPr>
          <a:xfrm>
            <a:off x="502920" y="2130552"/>
            <a:ext cx="8138160" cy="60350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0" name="Shape 8"/>
          <p:cNvSpPr/>
          <p:nvPr/>
        </p:nvSpPr>
        <p:spPr>
          <a:xfrm>
            <a:off x="502920" y="2130552"/>
            <a:ext cx="603504" cy="603504"/>
          </a:xfrm>
          <a:prstGeom prst="rect">
            <a:avLst/>
          </a:prstGeom>
          <a:solidFill>
            <a:srgbClr val="0D1526"/>
          </a:solidFill>
          <a:ln w="12700">
            <a:solidFill>
              <a:srgbClr val="0D1526"/>
            </a:solidFill>
            <a:prstDash val="solid"/>
          </a:ln>
        </p:spPr>
      </p:sp>
      <p:sp>
        <p:nvSpPr>
          <p:cNvPr id="11" name="Text 9"/>
          <p:cNvSpPr/>
          <p:nvPr/>
        </p:nvSpPr>
        <p:spPr>
          <a:xfrm>
            <a:off x="502920" y="2130552"/>
            <a:ext cx="603504" cy="603504"/>
          </a:xfrm>
          <a:prstGeom prst="rect">
            <a:avLst/>
          </a:prstGeom>
          <a:noFill/>
          <a:ln/>
        </p:spPr>
        <p:txBody>
          <a:bodyPr wrap="square" lIns="0" tIns="0" rIns="0" bIns="0" rtlCol="0" anchor="ctr"/>
          <a:lstStyle/>
          <a:p>
            <a:pPr algn="ctr" indent="0" marL="0">
              <a:buNone/>
            </a:pPr>
            <a:r>
              <a:rPr lang="en-US" sz="2200" b="1" dirty="0">
                <a:solidFill>
                  <a:srgbClr val="B3841C"/>
                </a:solidFill>
                <a:latin typeface="Cambria" pitchFamily="34" charset="0"/>
                <a:ea typeface="Cambria" pitchFamily="34" charset="-122"/>
                <a:cs typeface="Cambria" pitchFamily="34" charset="-120"/>
              </a:rPr>
              <a:t>C</a:t>
            </a:r>
            <a:endParaRPr lang="en-US" sz="2200" dirty="0"/>
          </a:p>
        </p:txBody>
      </p:sp>
      <p:sp>
        <p:nvSpPr>
          <p:cNvPr id="12" name="Text 10"/>
          <p:cNvSpPr/>
          <p:nvPr/>
        </p:nvSpPr>
        <p:spPr>
          <a:xfrm>
            <a:off x="1307592" y="2130552"/>
            <a:ext cx="1554480" cy="603504"/>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Complication</a:t>
            </a:r>
            <a:endParaRPr lang="en-US" sz="1350" dirty="0"/>
          </a:p>
        </p:txBody>
      </p:sp>
      <p:sp>
        <p:nvSpPr>
          <p:cNvPr id="13" name="Text 11"/>
          <p:cNvSpPr/>
          <p:nvPr/>
        </p:nvSpPr>
        <p:spPr>
          <a:xfrm>
            <a:off x="2880360" y="2130552"/>
            <a:ext cx="5577840" cy="60350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What changed and why we are having this conversation.</a:t>
            </a:r>
            <a:endParaRPr lang="en-US" sz="1200" dirty="0"/>
          </a:p>
        </p:txBody>
      </p:sp>
      <p:sp>
        <p:nvSpPr>
          <p:cNvPr id="14" name="Shape 12"/>
          <p:cNvSpPr/>
          <p:nvPr/>
        </p:nvSpPr>
        <p:spPr>
          <a:xfrm>
            <a:off x="502920" y="2798064"/>
            <a:ext cx="8138160" cy="60350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5" name="Shape 13"/>
          <p:cNvSpPr/>
          <p:nvPr/>
        </p:nvSpPr>
        <p:spPr>
          <a:xfrm>
            <a:off x="502920" y="2798064"/>
            <a:ext cx="603504" cy="603504"/>
          </a:xfrm>
          <a:prstGeom prst="rect">
            <a:avLst/>
          </a:prstGeom>
          <a:solidFill>
            <a:srgbClr val="0D1526"/>
          </a:solidFill>
          <a:ln w="12700">
            <a:solidFill>
              <a:srgbClr val="0D1526"/>
            </a:solidFill>
            <a:prstDash val="solid"/>
          </a:ln>
        </p:spPr>
      </p:sp>
      <p:sp>
        <p:nvSpPr>
          <p:cNvPr id="16" name="Text 14"/>
          <p:cNvSpPr/>
          <p:nvPr/>
        </p:nvSpPr>
        <p:spPr>
          <a:xfrm>
            <a:off x="502920" y="2798064"/>
            <a:ext cx="603504" cy="603504"/>
          </a:xfrm>
          <a:prstGeom prst="rect">
            <a:avLst/>
          </a:prstGeom>
          <a:noFill/>
          <a:ln/>
        </p:spPr>
        <p:txBody>
          <a:bodyPr wrap="square" lIns="0" tIns="0" rIns="0" bIns="0" rtlCol="0" anchor="ctr"/>
          <a:lstStyle/>
          <a:p>
            <a:pPr algn="ctr" indent="0" marL="0">
              <a:buNone/>
            </a:pPr>
            <a:r>
              <a:rPr lang="en-US" sz="2200" b="1" dirty="0">
                <a:solidFill>
                  <a:srgbClr val="B3841C"/>
                </a:solidFill>
                <a:latin typeface="Cambria" pitchFamily="34" charset="0"/>
                <a:ea typeface="Cambria" pitchFamily="34" charset="-122"/>
                <a:cs typeface="Cambria" pitchFamily="34" charset="-120"/>
              </a:rPr>
              <a:t>Q</a:t>
            </a:r>
            <a:endParaRPr lang="en-US" sz="2200" dirty="0"/>
          </a:p>
        </p:txBody>
      </p:sp>
      <p:sp>
        <p:nvSpPr>
          <p:cNvPr id="17" name="Text 15"/>
          <p:cNvSpPr/>
          <p:nvPr/>
        </p:nvSpPr>
        <p:spPr>
          <a:xfrm>
            <a:off x="1307592" y="2798064"/>
            <a:ext cx="1554480" cy="603504"/>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Question</a:t>
            </a:r>
            <a:endParaRPr lang="en-US" sz="1350" dirty="0"/>
          </a:p>
        </p:txBody>
      </p:sp>
      <p:sp>
        <p:nvSpPr>
          <p:cNvPr id="18" name="Text 16"/>
          <p:cNvSpPr/>
          <p:nvPr/>
        </p:nvSpPr>
        <p:spPr>
          <a:xfrm>
            <a:off x="2880360" y="2798064"/>
            <a:ext cx="5577840" cy="60350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It arises on its own in the reader’s mind. Rarely written.</a:t>
            </a:r>
            <a:endParaRPr lang="en-US" sz="1200" dirty="0"/>
          </a:p>
        </p:txBody>
      </p:sp>
      <p:sp>
        <p:nvSpPr>
          <p:cNvPr id="19" name="Shape 17"/>
          <p:cNvSpPr/>
          <p:nvPr/>
        </p:nvSpPr>
        <p:spPr>
          <a:xfrm>
            <a:off x="502920" y="3465576"/>
            <a:ext cx="8138160" cy="603504"/>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20" name="Shape 18"/>
          <p:cNvSpPr/>
          <p:nvPr/>
        </p:nvSpPr>
        <p:spPr>
          <a:xfrm>
            <a:off x="502920" y="3465576"/>
            <a:ext cx="603504" cy="603504"/>
          </a:xfrm>
          <a:prstGeom prst="rect">
            <a:avLst/>
          </a:prstGeom>
          <a:solidFill>
            <a:srgbClr val="0D1526"/>
          </a:solidFill>
          <a:ln w="12700">
            <a:solidFill>
              <a:srgbClr val="0D1526"/>
            </a:solidFill>
            <a:prstDash val="solid"/>
          </a:ln>
        </p:spPr>
      </p:sp>
      <p:sp>
        <p:nvSpPr>
          <p:cNvPr id="21" name="Text 19"/>
          <p:cNvSpPr/>
          <p:nvPr/>
        </p:nvSpPr>
        <p:spPr>
          <a:xfrm>
            <a:off x="502920" y="3465576"/>
            <a:ext cx="603504" cy="603504"/>
          </a:xfrm>
          <a:prstGeom prst="rect">
            <a:avLst/>
          </a:prstGeom>
          <a:noFill/>
          <a:ln/>
        </p:spPr>
        <p:txBody>
          <a:bodyPr wrap="square" lIns="0" tIns="0" rIns="0" bIns="0" rtlCol="0" anchor="ctr"/>
          <a:lstStyle/>
          <a:p>
            <a:pPr algn="ctr" indent="0" marL="0">
              <a:buNone/>
            </a:pPr>
            <a:r>
              <a:rPr lang="en-US" sz="2200" b="1" dirty="0">
                <a:solidFill>
                  <a:srgbClr val="B3841C"/>
                </a:solidFill>
                <a:latin typeface="Cambria" pitchFamily="34" charset="0"/>
                <a:ea typeface="Cambria" pitchFamily="34" charset="-122"/>
                <a:cs typeface="Cambria" pitchFamily="34" charset="-120"/>
              </a:rPr>
              <a:t>A</a:t>
            </a:r>
            <a:endParaRPr lang="en-US" sz="2200" dirty="0"/>
          </a:p>
        </p:txBody>
      </p:sp>
      <p:sp>
        <p:nvSpPr>
          <p:cNvPr id="22" name="Text 20"/>
          <p:cNvSpPr/>
          <p:nvPr/>
        </p:nvSpPr>
        <p:spPr>
          <a:xfrm>
            <a:off x="1307592" y="3465576"/>
            <a:ext cx="1554480" cy="603504"/>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Answer</a:t>
            </a:r>
            <a:endParaRPr lang="en-US" sz="1350" dirty="0"/>
          </a:p>
        </p:txBody>
      </p:sp>
      <p:sp>
        <p:nvSpPr>
          <p:cNvPr id="23" name="Text 21"/>
          <p:cNvSpPr/>
          <p:nvPr/>
        </p:nvSpPr>
        <p:spPr>
          <a:xfrm>
            <a:off x="2880360" y="3465576"/>
            <a:ext cx="5577840" cy="603504"/>
          </a:xfrm>
          <a:prstGeom prst="rect">
            <a:avLst/>
          </a:prstGeom>
          <a:noFill/>
          <a:ln/>
        </p:spPr>
        <p:txBody>
          <a:bodyPr wrap="square" lIns="0" tIns="0" rIns="0" bIns="0" rtlCol="0" anchor="ctr"/>
          <a:lstStyle/>
          <a:p>
            <a:pPr indent="0" marL="0">
              <a:buNone/>
            </a:pPr>
            <a:r>
              <a:rPr lang="en-US" sz="1200" dirty="0">
                <a:solidFill>
                  <a:srgbClr val="4B5670"/>
                </a:solidFill>
                <a:latin typeface="Calibri" pitchFamily="34" charset="0"/>
                <a:ea typeface="Calibri" pitchFamily="34" charset="-122"/>
                <a:cs typeface="Calibri" pitchFamily="34" charset="-120"/>
              </a:rPr>
              <a:t>Your conclusion. It goes first in the body of the document.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SCQA IN FOUR LINES</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Built well, the introduction makes your conclusion inevitable</a:t>
            </a:r>
            <a:endParaRPr lang="en-US" sz="2600" dirty="0"/>
          </a:p>
        </p:txBody>
      </p:sp>
      <p:sp>
        <p:nvSpPr>
          <p:cNvPr id="4" name="Shape 2"/>
          <p:cNvSpPr/>
          <p:nvPr/>
        </p:nvSpPr>
        <p:spPr>
          <a:xfrm>
            <a:off x="502920" y="1481328"/>
            <a:ext cx="8138160" cy="64008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685800" y="1481328"/>
            <a:ext cx="365760" cy="640080"/>
          </a:xfrm>
          <a:prstGeom prst="rect">
            <a:avLst/>
          </a:prstGeom>
          <a:noFill/>
          <a:ln/>
        </p:spPr>
        <p:txBody>
          <a:bodyPr wrap="square" lIns="0" tIns="0" rIns="0" bIns="0" rtlCol="0" anchor="ctr"/>
          <a:lstStyle/>
          <a:p>
            <a:pPr indent="0" marL="0">
              <a:buNone/>
            </a:pPr>
            <a:r>
              <a:rPr lang="en-US" sz="1800" b="1" dirty="0">
                <a:solidFill>
                  <a:srgbClr val="77809A"/>
                </a:solidFill>
                <a:latin typeface="Cambria" pitchFamily="34" charset="0"/>
                <a:ea typeface="Cambria" pitchFamily="34" charset="-122"/>
                <a:cs typeface="Cambria" pitchFamily="34" charset="-120"/>
              </a:rPr>
              <a:t>S</a:t>
            </a:r>
            <a:endParaRPr lang="en-US" sz="1800" dirty="0"/>
          </a:p>
        </p:txBody>
      </p:sp>
      <p:sp>
        <p:nvSpPr>
          <p:cNvPr id="6" name="Text 4"/>
          <p:cNvSpPr/>
          <p:nvPr/>
        </p:nvSpPr>
        <p:spPr>
          <a:xfrm>
            <a:off x="1188720" y="1481328"/>
            <a:ext cx="7040880" cy="640080"/>
          </a:xfrm>
          <a:prstGeom prst="rect">
            <a:avLst/>
          </a:prstGeom>
          <a:noFill/>
          <a:ln/>
        </p:spPr>
        <p:txBody>
          <a:bodyPr wrap="square" lIns="0" tIns="0" rIns="0" bIns="0" rtlCol="0" anchor="ctr"/>
          <a:lstStyle/>
          <a:p>
            <a:pPr indent="0" marL="0">
              <a:buNone/>
            </a:pPr>
            <a:r>
              <a:rPr lang="en-US" sz="1250" dirty="0">
                <a:solidFill>
                  <a:srgbClr val="4B5670"/>
                </a:solidFill>
                <a:latin typeface="Calibri" pitchFamily="34" charset="0"/>
                <a:ea typeface="Calibri" pitchFamily="34" charset="-122"/>
                <a:cs typeface="Calibri" pitchFamily="34" charset="-120"/>
              </a:rPr>
              <a:t>The model was approved five years ago and underpins the capital calculation for the wholesale book.</a:t>
            </a:r>
            <a:endParaRPr lang="en-US" sz="1250" dirty="0"/>
          </a:p>
        </p:txBody>
      </p:sp>
      <p:sp>
        <p:nvSpPr>
          <p:cNvPr id="7" name="Shape 5"/>
          <p:cNvSpPr/>
          <p:nvPr/>
        </p:nvSpPr>
        <p:spPr>
          <a:xfrm>
            <a:off x="502920" y="2194560"/>
            <a:ext cx="8138160" cy="64008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8" name="Text 6"/>
          <p:cNvSpPr/>
          <p:nvPr/>
        </p:nvSpPr>
        <p:spPr>
          <a:xfrm>
            <a:off x="685800" y="2194560"/>
            <a:ext cx="365760" cy="640080"/>
          </a:xfrm>
          <a:prstGeom prst="rect">
            <a:avLst/>
          </a:prstGeom>
          <a:noFill/>
          <a:ln/>
        </p:spPr>
        <p:txBody>
          <a:bodyPr wrap="square" lIns="0" tIns="0" rIns="0" bIns="0" rtlCol="0" anchor="ctr"/>
          <a:lstStyle/>
          <a:p>
            <a:pPr indent="0" marL="0">
              <a:buNone/>
            </a:pPr>
            <a:r>
              <a:rPr lang="en-US" sz="1800" b="1" dirty="0">
                <a:solidFill>
                  <a:srgbClr val="77809A"/>
                </a:solidFill>
                <a:latin typeface="Cambria" pitchFamily="34" charset="0"/>
                <a:ea typeface="Cambria" pitchFamily="34" charset="-122"/>
                <a:cs typeface="Cambria" pitchFamily="34" charset="-120"/>
              </a:rPr>
              <a:t>C</a:t>
            </a:r>
            <a:endParaRPr lang="en-US" sz="1800" dirty="0"/>
          </a:p>
        </p:txBody>
      </p:sp>
      <p:sp>
        <p:nvSpPr>
          <p:cNvPr id="9" name="Text 7"/>
          <p:cNvSpPr/>
          <p:nvPr/>
        </p:nvSpPr>
        <p:spPr>
          <a:xfrm>
            <a:off x="1188720" y="2194560"/>
            <a:ext cx="7040880" cy="640080"/>
          </a:xfrm>
          <a:prstGeom prst="rect">
            <a:avLst/>
          </a:prstGeom>
          <a:noFill/>
          <a:ln/>
        </p:spPr>
        <p:txBody>
          <a:bodyPr wrap="square" lIns="0" tIns="0" rIns="0" bIns="0" rtlCol="0" anchor="ctr"/>
          <a:lstStyle/>
          <a:p>
            <a:pPr indent="0" marL="0">
              <a:buNone/>
            </a:pPr>
            <a:r>
              <a:rPr lang="en-US" sz="1250" dirty="0">
                <a:solidFill>
                  <a:srgbClr val="4B5670"/>
                </a:solidFill>
                <a:latin typeface="Calibri" pitchFamily="34" charset="0"/>
                <a:ea typeface="Calibri" pitchFamily="34" charset="-122"/>
                <a:cs typeface="Calibri" pitchFamily="34" charset="-120"/>
              </a:rPr>
              <a:t>Validation found understatement in the mid segment, and the calendar does not allow a full rebuild.</a:t>
            </a:r>
            <a:endParaRPr lang="en-US" sz="1250" dirty="0"/>
          </a:p>
        </p:txBody>
      </p:sp>
      <p:sp>
        <p:nvSpPr>
          <p:cNvPr id="10" name="Shape 8"/>
          <p:cNvSpPr/>
          <p:nvPr/>
        </p:nvSpPr>
        <p:spPr>
          <a:xfrm>
            <a:off x="502920" y="2907792"/>
            <a:ext cx="8138160" cy="64008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1" name="Text 9"/>
          <p:cNvSpPr/>
          <p:nvPr/>
        </p:nvSpPr>
        <p:spPr>
          <a:xfrm>
            <a:off x="685800" y="2907792"/>
            <a:ext cx="365760" cy="640080"/>
          </a:xfrm>
          <a:prstGeom prst="rect">
            <a:avLst/>
          </a:prstGeom>
          <a:noFill/>
          <a:ln/>
        </p:spPr>
        <p:txBody>
          <a:bodyPr wrap="square" lIns="0" tIns="0" rIns="0" bIns="0" rtlCol="0" anchor="ctr"/>
          <a:lstStyle/>
          <a:p>
            <a:pPr indent="0" marL="0">
              <a:buNone/>
            </a:pPr>
            <a:r>
              <a:rPr lang="en-US" sz="1800" b="1" dirty="0">
                <a:solidFill>
                  <a:srgbClr val="77809A"/>
                </a:solidFill>
                <a:latin typeface="Cambria" pitchFamily="34" charset="0"/>
                <a:ea typeface="Cambria" pitchFamily="34" charset="-122"/>
                <a:cs typeface="Cambria" pitchFamily="34" charset="-120"/>
              </a:rPr>
              <a:t>Q</a:t>
            </a:r>
            <a:endParaRPr lang="en-US" sz="1800" dirty="0"/>
          </a:p>
        </p:txBody>
      </p:sp>
      <p:sp>
        <p:nvSpPr>
          <p:cNvPr id="12" name="Text 10"/>
          <p:cNvSpPr/>
          <p:nvPr/>
        </p:nvSpPr>
        <p:spPr>
          <a:xfrm>
            <a:off x="1188720" y="2907792"/>
            <a:ext cx="7040880" cy="640080"/>
          </a:xfrm>
          <a:prstGeom prst="rect">
            <a:avLst/>
          </a:prstGeom>
          <a:noFill/>
          <a:ln/>
        </p:spPr>
        <p:txBody>
          <a:bodyPr wrap="square" lIns="0" tIns="0" rIns="0" bIns="0" rtlCol="0" anchor="ctr"/>
          <a:lstStyle/>
          <a:p>
            <a:pPr indent="0" marL="0">
              <a:buNone/>
            </a:pPr>
            <a:r>
              <a:rPr lang="en-US" sz="1250" i="1" dirty="0">
                <a:solidFill>
                  <a:srgbClr val="4B5670"/>
                </a:solidFill>
                <a:latin typeface="Calibri" pitchFamily="34" charset="0"/>
                <a:ea typeface="Calibri" pitchFamily="34" charset="-122"/>
                <a:cs typeface="Calibri" pitchFamily="34" charset="-120"/>
              </a:rPr>
              <a:t>Recalibrate, rebuild or adjust? (not written down)</a:t>
            </a:r>
            <a:endParaRPr lang="en-US" sz="1250" dirty="0"/>
          </a:p>
        </p:txBody>
      </p:sp>
      <p:sp>
        <p:nvSpPr>
          <p:cNvPr id="13" name="Shape 11"/>
          <p:cNvSpPr/>
          <p:nvPr/>
        </p:nvSpPr>
        <p:spPr>
          <a:xfrm>
            <a:off x="502920" y="3621024"/>
            <a:ext cx="8138160" cy="640080"/>
          </a:xfrm>
          <a:prstGeom prst="rect">
            <a:avLst/>
          </a:prstGeom>
          <a:solidFill>
            <a:srgbClr val="F2E7CB"/>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4" name="Text 12"/>
          <p:cNvSpPr/>
          <p:nvPr/>
        </p:nvSpPr>
        <p:spPr>
          <a:xfrm>
            <a:off x="685800" y="3621024"/>
            <a:ext cx="365760" cy="640080"/>
          </a:xfrm>
          <a:prstGeom prst="rect">
            <a:avLst/>
          </a:prstGeom>
          <a:noFill/>
          <a:ln/>
        </p:spPr>
        <p:txBody>
          <a:bodyPr wrap="square" lIns="0" tIns="0" rIns="0" bIns="0" rtlCol="0" anchor="ctr"/>
          <a:lstStyle/>
          <a:p>
            <a:pPr indent="0" marL="0">
              <a:buNone/>
            </a:pPr>
            <a:r>
              <a:rPr lang="en-US" sz="1800" b="1" dirty="0">
                <a:solidFill>
                  <a:srgbClr val="B3841C"/>
                </a:solidFill>
                <a:latin typeface="Cambria" pitchFamily="34" charset="0"/>
                <a:ea typeface="Cambria" pitchFamily="34" charset="-122"/>
                <a:cs typeface="Cambria" pitchFamily="34" charset="-120"/>
              </a:rPr>
              <a:t>A</a:t>
            </a:r>
            <a:endParaRPr lang="en-US" sz="1800" dirty="0"/>
          </a:p>
        </p:txBody>
      </p:sp>
      <p:sp>
        <p:nvSpPr>
          <p:cNvPr id="15" name="Text 13"/>
          <p:cNvSpPr/>
          <p:nvPr/>
        </p:nvSpPr>
        <p:spPr>
          <a:xfrm>
            <a:off x="1188720" y="3621024"/>
            <a:ext cx="7040880" cy="640080"/>
          </a:xfrm>
          <a:prstGeom prst="rect">
            <a:avLst/>
          </a:prstGeom>
          <a:noFill/>
          <a:ln/>
        </p:spPr>
        <p:txBody>
          <a:bodyPr wrap="square" lIns="0" tIns="0" rIns="0" bIns="0" rtlCol="0" anchor="ctr"/>
          <a:lstStyle/>
          <a:p>
            <a:pPr indent="0" marL="0">
              <a:buNone/>
            </a:pPr>
            <a:r>
              <a:rPr lang="en-US" sz="1250" b="1" dirty="0">
                <a:solidFill>
                  <a:srgbClr val="3B2E10"/>
                </a:solidFill>
                <a:latin typeface="Calibri" pitchFamily="34" charset="0"/>
                <a:ea typeface="Calibri" pitchFamily="34" charset="-122"/>
                <a:cs typeface="Calibri" pitchFamily="34" charset="-120"/>
              </a:rPr>
              <a:t>Recalibrate with a transitional conservative margin.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RULE 3 OF 3</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Ask "so what?" until the sentence helps someone decide</a:t>
            </a:r>
            <a:endParaRPr lang="en-US" sz="2600" dirty="0"/>
          </a:p>
        </p:txBody>
      </p:sp>
      <p:sp>
        <p:nvSpPr>
          <p:cNvPr id="4" name="Shape 2"/>
          <p:cNvSpPr/>
          <p:nvPr/>
        </p:nvSpPr>
        <p:spPr>
          <a:xfrm>
            <a:off x="502920" y="1481328"/>
            <a:ext cx="7552944" cy="65836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Shape 3"/>
          <p:cNvSpPr/>
          <p:nvPr/>
        </p:nvSpPr>
        <p:spPr>
          <a:xfrm>
            <a:off x="704088" y="1655064"/>
            <a:ext cx="310896" cy="310896"/>
          </a:xfrm>
          <a:prstGeom prst="ellipse">
            <a:avLst/>
          </a:prstGeom>
          <a:solidFill>
            <a:srgbClr val="A2382A"/>
          </a:solidFill>
          <a:ln w="12700">
            <a:solidFill>
              <a:srgbClr val="A2382A"/>
            </a:solidFill>
            <a:prstDash val="solid"/>
          </a:ln>
        </p:spPr>
      </p:sp>
      <p:sp>
        <p:nvSpPr>
          <p:cNvPr id="6" name="Text 4"/>
          <p:cNvSpPr/>
          <p:nvPr/>
        </p:nvSpPr>
        <p:spPr>
          <a:xfrm>
            <a:off x="704088" y="16550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61288" y="1481328"/>
            <a:ext cx="5029200" cy="658368"/>
          </a:xfrm>
          <a:prstGeom prst="rect">
            <a:avLst/>
          </a:prstGeom>
          <a:noFill/>
          <a:ln/>
        </p:spPr>
        <p:txBody>
          <a:bodyPr wrap="square" lIns="0" tIns="0" rIns="0" bIns="0" rtlCol="0" anchor="ctr"/>
          <a:lstStyle/>
          <a:p>
            <a:pPr indent="0" marL="0">
              <a:lnSpc>
                <a:spcPts val="1700"/>
              </a:lnSpc>
              <a:buNone/>
            </a:pPr>
            <a:r>
              <a:rPr lang="en-US" sz="1250" dirty="0">
                <a:solidFill>
                  <a:srgbClr val="4B5670"/>
                </a:solidFill>
                <a:latin typeface="Calibri" pitchFamily="34" charset="0"/>
                <a:ea typeface="Calibri" pitchFamily="34" charset="-122"/>
                <a:cs typeface="Calibri" pitchFamily="34" charset="-120"/>
              </a:rPr>
              <a:t>Mid-segment arrears rose 40 basis points.</a:t>
            </a:r>
            <a:endParaRPr lang="en-US" sz="1250" dirty="0"/>
          </a:p>
        </p:txBody>
      </p:sp>
      <p:sp>
        <p:nvSpPr>
          <p:cNvPr id="8" name="Text 6"/>
          <p:cNvSpPr/>
          <p:nvPr/>
        </p:nvSpPr>
        <p:spPr>
          <a:xfrm>
            <a:off x="6492240" y="1481328"/>
            <a:ext cx="1737360" cy="658368"/>
          </a:xfrm>
          <a:prstGeom prst="rect">
            <a:avLst/>
          </a:prstGeom>
          <a:noFill/>
          <a:ln/>
        </p:spPr>
        <p:txBody>
          <a:bodyPr wrap="square" lIns="0" tIns="0" rIns="0" bIns="0" rtlCol="0" anchor="ctr"/>
          <a:lstStyle/>
          <a:p>
            <a:pPr algn="r" indent="0" marL="0">
              <a:buNone/>
            </a:pPr>
            <a:r>
              <a:rPr lang="en-US" sz="1100" i="1" dirty="0">
                <a:solidFill>
                  <a:srgbClr val="A2382A"/>
                </a:solidFill>
                <a:latin typeface="Calibri" pitchFamily="34" charset="0"/>
                <a:ea typeface="Calibri" pitchFamily="34" charset="-122"/>
                <a:cs typeface="Calibri" pitchFamily="34" charset="-120"/>
              </a:rPr>
              <a:t>A data point. So what?</a:t>
            </a:r>
            <a:endParaRPr lang="en-US" sz="1100" dirty="0"/>
          </a:p>
        </p:txBody>
      </p:sp>
      <p:sp>
        <p:nvSpPr>
          <p:cNvPr id="9" name="Shape 7"/>
          <p:cNvSpPr/>
          <p:nvPr/>
        </p:nvSpPr>
        <p:spPr>
          <a:xfrm>
            <a:off x="795528" y="2340864"/>
            <a:ext cx="7552944" cy="65836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0" name="Shape 8"/>
          <p:cNvSpPr/>
          <p:nvPr/>
        </p:nvSpPr>
        <p:spPr>
          <a:xfrm>
            <a:off x="996696" y="2514600"/>
            <a:ext cx="310896" cy="310896"/>
          </a:xfrm>
          <a:prstGeom prst="ellipse">
            <a:avLst/>
          </a:prstGeom>
          <a:solidFill>
            <a:srgbClr val="B3841C"/>
          </a:solidFill>
          <a:ln w="12700">
            <a:solidFill>
              <a:srgbClr val="B3841C"/>
            </a:solidFill>
            <a:prstDash val="solid"/>
          </a:ln>
        </p:spPr>
      </p:sp>
      <p:sp>
        <p:nvSpPr>
          <p:cNvPr id="11" name="Text 9"/>
          <p:cNvSpPr/>
          <p:nvPr/>
        </p:nvSpPr>
        <p:spPr>
          <a:xfrm>
            <a:off x="996696" y="2514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453896" y="2340864"/>
            <a:ext cx="5029200" cy="658368"/>
          </a:xfrm>
          <a:prstGeom prst="rect">
            <a:avLst/>
          </a:prstGeom>
          <a:noFill/>
          <a:ln/>
        </p:spPr>
        <p:txBody>
          <a:bodyPr wrap="square" lIns="0" tIns="0" rIns="0" bIns="0" rtlCol="0" anchor="ctr"/>
          <a:lstStyle/>
          <a:p>
            <a:pPr indent="0" marL="0">
              <a:lnSpc>
                <a:spcPts val="1700"/>
              </a:lnSpc>
              <a:buNone/>
            </a:pPr>
            <a:r>
              <a:rPr lang="en-US" sz="1250" dirty="0">
                <a:solidFill>
                  <a:srgbClr val="4B5670"/>
                </a:solidFill>
                <a:latin typeface="Calibri" pitchFamily="34" charset="0"/>
                <a:ea typeface="Calibri" pitchFamily="34" charset="-122"/>
                <a:cs typeface="Calibri" pitchFamily="34" charset="-120"/>
              </a:rPr>
              <a:t>It is the third consecutive quarter rising.</a:t>
            </a:r>
            <a:endParaRPr lang="en-US" sz="1250" dirty="0"/>
          </a:p>
        </p:txBody>
      </p:sp>
      <p:sp>
        <p:nvSpPr>
          <p:cNvPr id="13" name="Text 11"/>
          <p:cNvSpPr/>
          <p:nvPr/>
        </p:nvSpPr>
        <p:spPr>
          <a:xfrm>
            <a:off x="6492240" y="2340864"/>
            <a:ext cx="1737360" cy="658368"/>
          </a:xfrm>
          <a:prstGeom prst="rect">
            <a:avLst/>
          </a:prstGeom>
          <a:noFill/>
          <a:ln/>
        </p:spPr>
        <p:txBody>
          <a:bodyPr wrap="square" lIns="0" tIns="0" rIns="0" bIns="0" rtlCol="0" anchor="ctr"/>
          <a:lstStyle/>
          <a:p>
            <a:pPr algn="r" indent="0" marL="0">
              <a:buNone/>
            </a:pPr>
            <a:r>
              <a:rPr lang="en-US" sz="1100" i="1" dirty="0">
                <a:solidFill>
                  <a:srgbClr val="B3841C"/>
                </a:solidFill>
                <a:latin typeface="Calibri" pitchFamily="34" charset="0"/>
                <a:ea typeface="Calibri" pitchFamily="34" charset="-122"/>
                <a:cs typeface="Calibri" pitchFamily="34" charset="-120"/>
              </a:rPr>
              <a:t>A pattern. So what?</a:t>
            </a:r>
            <a:endParaRPr lang="en-US" sz="1100" dirty="0"/>
          </a:p>
        </p:txBody>
      </p:sp>
      <p:sp>
        <p:nvSpPr>
          <p:cNvPr id="14" name="Shape 12"/>
          <p:cNvSpPr/>
          <p:nvPr/>
        </p:nvSpPr>
        <p:spPr>
          <a:xfrm>
            <a:off x="1088136" y="3200400"/>
            <a:ext cx="7552944" cy="841248"/>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5" name="Shape 13"/>
          <p:cNvSpPr/>
          <p:nvPr/>
        </p:nvSpPr>
        <p:spPr>
          <a:xfrm>
            <a:off x="1289304" y="3465576"/>
            <a:ext cx="310896" cy="310896"/>
          </a:xfrm>
          <a:prstGeom prst="ellipse">
            <a:avLst/>
          </a:prstGeom>
          <a:solidFill>
            <a:srgbClr val="16624A"/>
          </a:solidFill>
          <a:ln w="12700">
            <a:solidFill>
              <a:srgbClr val="16624A"/>
            </a:solidFill>
            <a:prstDash val="solid"/>
          </a:ln>
        </p:spPr>
      </p:sp>
      <p:sp>
        <p:nvSpPr>
          <p:cNvPr id="16" name="Text 14"/>
          <p:cNvSpPr/>
          <p:nvPr/>
        </p:nvSpPr>
        <p:spPr>
          <a:xfrm>
            <a:off x="1289304" y="34655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746504" y="3200400"/>
            <a:ext cx="5029200" cy="841248"/>
          </a:xfrm>
          <a:prstGeom prst="rect">
            <a:avLst/>
          </a:prstGeom>
          <a:noFill/>
          <a:ln/>
        </p:spPr>
        <p:txBody>
          <a:bodyPr wrap="square" lIns="0" tIns="0" rIns="0" bIns="0" rtlCol="0" anchor="ctr"/>
          <a:lstStyle/>
          <a:p>
            <a:pPr indent="0" marL="0">
              <a:lnSpc>
                <a:spcPts val="1700"/>
              </a:lnSpc>
              <a:buNone/>
            </a:pPr>
            <a:r>
              <a:rPr lang="en-US" sz="1250" b="1" dirty="0">
                <a:solidFill>
                  <a:srgbClr val="0D1526"/>
                </a:solidFill>
                <a:latin typeface="Calibri" pitchFamily="34" charset="0"/>
                <a:ea typeface="Calibri" pitchFamily="34" charset="-122"/>
                <a:cs typeface="Calibri" pitchFamily="34" charset="-120"/>
              </a:rPr>
              <a:t>The deterioration is structural, not seasonal: the current cut-off no longer protects the target return.</a:t>
            </a:r>
            <a:endParaRPr lang="en-US" sz="1250" dirty="0"/>
          </a:p>
        </p:txBody>
      </p:sp>
      <p:sp>
        <p:nvSpPr>
          <p:cNvPr id="18" name="Text 16"/>
          <p:cNvSpPr/>
          <p:nvPr/>
        </p:nvSpPr>
        <p:spPr>
          <a:xfrm>
            <a:off x="6492240" y="3200400"/>
            <a:ext cx="1737360" cy="841248"/>
          </a:xfrm>
          <a:prstGeom prst="rect">
            <a:avLst/>
          </a:prstGeom>
          <a:noFill/>
          <a:ln/>
        </p:spPr>
        <p:txBody>
          <a:bodyPr wrap="square" lIns="0" tIns="0" rIns="0" bIns="0" rtlCol="0" anchor="ctr"/>
          <a:lstStyle/>
          <a:p>
            <a:pPr algn="r" indent="0" marL="0">
              <a:buNone/>
            </a:pPr>
            <a:r>
              <a:rPr lang="en-US" sz="1100" i="1" dirty="0">
                <a:solidFill>
                  <a:srgbClr val="16624A"/>
                </a:solidFill>
                <a:latin typeface="Calibri" pitchFamily="34" charset="0"/>
                <a:ea typeface="Calibri" pitchFamily="34" charset="-122"/>
                <a:cs typeface="Calibri" pitchFamily="34" charset="-120"/>
              </a:rPr>
              <a:t>A conclusion. This is the idea.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EXERCISE 1</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FFFFFF"/>
                </a:solidFill>
                <a:latin typeface="Cambria" pitchFamily="34" charset="0"/>
                <a:ea typeface="Cambria" pitchFamily="34" charset="-122"/>
                <a:cs typeface="Cambria" pitchFamily="34" charset="-120"/>
              </a:rPr>
              <a:t>Write the conclusion of your document in a single sentence</a:t>
            </a:r>
            <a:endParaRPr lang="en-US" sz="2600" dirty="0"/>
          </a:p>
        </p:txBody>
      </p:sp>
      <p:sp>
        <p:nvSpPr>
          <p:cNvPr id="4" name="Text 2"/>
          <p:cNvSpPr/>
          <p:nvPr/>
        </p:nvSpPr>
        <p:spPr>
          <a:xfrm>
            <a:off x="502920" y="1874520"/>
            <a:ext cx="5120640" cy="1554480"/>
          </a:xfrm>
          <a:prstGeom prst="rect">
            <a:avLst/>
          </a:prstGeom>
          <a:noFill/>
          <a:ln/>
        </p:spPr>
        <p:txBody>
          <a:bodyPr wrap="square" lIns="0" tIns="0" rIns="0" bIns="0" rtlCol="0" anchor="t"/>
          <a:lstStyle/>
          <a:p>
            <a:pPr indent="0" marL="0">
              <a:lnSpc>
                <a:spcPts val="2200"/>
              </a:lnSpc>
              <a:buNone/>
            </a:pPr>
            <a:r>
              <a:rPr lang="en-US" sz="1400" dirty="0">
                <a:solidFill>
                  <a:srgbClr val="AEB9D0"/>
                </a:solidFill>
                <a:latin typeface="Calibri" pitchFamily="34" charset="0"/>
                <a:ea typeface="Calibri" pitchFamily="34" charset="-122"/>
                <a:cs typeface="Calibri" pitchFamily="34" charset="-120"/>
              </a:rPr>
              <a:t>Take the document you brought.
</a:t>
            </a:r>
            <a:pPr indent="0" marL="0">
              <a:lnSpc>
                <a:spcPts val="2200"/>
              </a:lnSpc>
              <a:buNone/>
            </a:pPr>
            <a:r>
              <a:rPr lang="en-US" sz="1400" dirty="0">
                <a:solidFill>
                  <a:srgbClr val="AEB9D0"/>
                </a:solidFill>
                <a:latin typeface="Calibri" pitchFamily="34" charset="0"/>
                <a:ea typeface="Calibri" pitchFamily="34" charset="-122"/>
                <a:cs typeface="Calibri" pitchFamily="34" charset="-120"/>
              </a:rPr>
              <a:t>Write in one sentence what you are asking or telling the reader. Then ask that sentence "so what?" and rewrite it. Repeat until the question produces nothing new.</a:t>
            </a:r>
            <a:endParaRPr lang="en-US" sz="1400" dirty="0"/>
          </a:p>
        </p:txBody>
      </p:sp>
      <p:sp>
        <p:nvSpPr>
          <p:cNvPr id="5" name="Shape 3"/>
          <p:cNvSpPr/>
          <p:nvPr/>
        </p:nvSpPr>
        <p:spPr>
          <a:xfrm>
            <a:off x="5943600" y="1828800"/>
            <a:ext cx="2697480" cy="1691640"/>
          </a:xfrm>
          <a:prstGeom prst="rect">
            <a:avLst/>
          </a:prstGeom>
          <a:solidFill>
            <a:srgbClr val="1B2A47"/>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6" name="Text 4"/>
          <p:cNvSpPr/>
          <p:nvPr/>
        </p:nvSpPr>
        <p:spPr>
          <a:xfrm>
            <a:off x="6172200" y="2011680"/>
            <a:ext cx="2286000" cy="274320"/>
          </a:xfrm>
          <a:prstGeom prst="rect">
            <a:avLst/>
          </a:prstGeom>
          <a:noFill/>
          <a:ln/>
        </p:spPr>
        <p:txBody>
          <a:bodyPr wrap="square" lIns="0" tIns="0" rIns="0" bIns="0" rtlCol="0" anchor="ctr"/>
          <a:lstStyle/>
          <a:p>
            <a:pPr indent="0" marL="0">
              <a:buNone/>
            </a:pPr>
            <a:r>
              <a:rPr lang="en-US" sz="1200" b="1" dirty="0">
                <a:solidFill>
                  <a:srgbClr val="B3841C"/>
                </a:solidFill>
                <a:latin typeface="Calibri" pitchFamily="34" charset="0"/>
                <a:ea typeface="Calibri" pitchFamily="34" charset="-122"/>
                <a:cs typeface="Calibri" pitchFamily="34" charset="-120"/>
              </a:rPr>
              <a:t>If you get nowhere</a:t>
            </a:r>
            <a:endParaRPr lang="en-US" sz="1200" dirty="0"/>
          </a:p>
        </p:txBody>
      </p:sp>
      <p:sp>
        <p:nvSpPr>
          <p:cNvPr id="7" name="Text 5"/>
          <p:cNvSpPr/>
          <p:nvPr/>
        </p:nvSpPr>
        <p:spPr>
          <a:xfrm>
            <a:off x="6172200" y="2331720"/>
            <a:ext cx="2286000" cy="1005840"/>
          </a:xfrm>
          <a:prstGeom prst="rect">
            <a:avLst/>
          </a:prstGeom>
          <a:noFill/>
          <a:ln/>
        </p:spPr>
        <p:txBody>
          <a:bodyPr wrap="square" lIns="0" tIns="0" rIns="0" bIns="0" rtlCol="0" anchor="t"/>
          <a:lstStyle/>
          <a:p>
            <a:pPr indent="0" marL="0">
              <a:lnSpc>
                <a:spcPts val="1600"/>
              </a:lnSpc>
              <a:buNone/>
            </a:pPr>
            <a:r>
              <a:rPr lang="en-US" sz="1150" dirty="0">
                <a:solidFill>
                  <a:srgbClr val="C6CFE2"/>
                </a:solidFill>
                <a:latin typeface="Calibri" pitchFamily="34" charset="0"/>
                <a:ea typeface="Calibri" pitchFamily="34" charset="-122"/>
                <a:cs typeface="Calibri" pitchFamily="34" charset="-120"/>
              </a:rPr>
              <a:t>It is not a writing problem. The analysis is missing. Write that down: it is the most valuable finding of the session.</a:t>
            </a:r>
            <a:endParaRPr lang="en-US" sz="1150" dirty="0"/>
          </a:p>
        </p:txBody>
      </p:sp>
      <p:sp>
        <p:nvSpPr>
          <p:cNvPr id="8" name="Shape 6"/>
          <p:cNvSpPr/>
          <p:nvPr/>
        </p:nvSpPr>
        <p:spPr>
          <a:xfrm>
            <a:off x="502920" y="3794760"/>
            <a:ext cx="777240" cy="310896"/>
          </a:xfrm>
          <a:prstGeom prst="roundRect">
            <a:avLst>
              <a:gd name="adj" fmla="val 50000"/>
            </a:avLst>
          </a:prstGeom>
          <a:solidFill>
            <a:srgbClr val="B3841C"/>
          </a:solidFill>
          <a:ln w="12700">
            <a:solidFill>
              <a:srgbClr val="B3841C"/>
            </a:solidFill>
            <a:prstDash val="solid"/>
          </a:ln>
        </p:spPr>
      </p:sp>
      <p:sp>
        <p:nvSpPr>
          <p:cNvPr id="9" name="Text 7"/>
          <p:cNvSpPr/>
          <p:nvPr/>
        </p:nvSpPr>
        <p:spPr>
          <a:xfrm>
            <a:off x="502920" y="3794760"/>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15 min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BEFORE THE CRITIQUE</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We criticise the document, never the person</a:t>
            </a:r>
            <a:endParaRPr lang="en-US" sz="2600" dirty="0"/>
          </a:p>
        </p:txBody>
      </p:sp>
      <p:sp>
        <p:nvSpPr>
          <p:cNvPr id="4" name="Shape 2"/>
          <p:cNvSpPr/>
          <p:nvPr/>
        </p:nvSpPr>
        <p:spPr>
          <a:xfrm>
            <a:off x="502920" y="1508760"/>
            <a:ext cx="3931920" cy="105156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31520" y="1645920"/>
            <a:ext cx="3474720" cy="292608"/>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The critic proposes</a:t>
            </a:r>
            <a:endParaRPr lang="en-US" sz="1350" dirty="0"/>
          </a:p>
        </p:txBody>
      </p:sp>
      <p:sp>
        <p:nvSpPr>
          <p:cNvPr id="6" name="Text 4"/>
          <p:cNvSpPr/>
          <p:nvPr/>
        </p:nvSpPr>
        <p:spPr>
          <a:xfrm>
            <a:off x="731520" y="1965960"/>
            <a:ext cx="3474720" cy="50292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Saying "it is not clear" does not help. "I would put this sentence first" does.</a:t>
            </a:r>
            <a:endParaRPr lang="en-US" sz="1150" dirty="0"/>
          </a:p>
        </p:txBody>
      </p:sp>
      <p:sp>
        <p:nvSpPr>
          <p:cNvPr id="7" name="Shape 5"/>
          <p:cNvSpPr/>
          <p:nvPr/>
        </p:nvSpPr>
        <p:spPr>
          <a:xfrm>
            <a:off x="4709160" y="1508760"/>
            <a:ext cx="3931920" cy="105156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8" name="Text 6"/>
          <p:cNvSpPr/>
          <p:nvPr/>
        </p:nvSpPr>
        <p:spPr>
          <a:xfrm>
            <a:off x="4937760" y="1645920"/>
            <a:ext cx="3474720" cy="292608"/>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The author does not defend</a:t>
            </a:r>
            <a:endParaRPr lang="en-US" sz="1350" dirty="0"/>
          </a:p>
        </p:txBody>
      </p:sp>
      <p:sp>
        <p:nvSpPr>
          <p:cNvPr id="9" name="Text 7"/>
          <p:cNvSpPr/>
          <p:nvPr/>
        </p:nvSpPr>
        <p:spPr>
          <a:xfrm>
            <a:off x="4937760" y="1965960"/>
            <a:ext cx="3474720" cy="50292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Take notes, decide later. Defending turns the exercise into a debate.</a:t>
            </a:r>
            <a:endParaRPr lang="en-US" sz="1150" dirty="0"/>
          </a:p>
        </p:txBody>
      </p:sp>
      <p:sp>
        <p:nvSpPr>
          <p:cNvPr id="10" name="Shape 8"/>
          <p:cNvSpPr/>
          <p:nvPr/>
        </p:nvSpPr>
        <p:spPr>
          <a:xfrm>
            <a:off x="502920" y="2715768"/>
            <a:ext cx="3931920" cy="105156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1" name="Text 9"/>
          <p:cNvSpPr/>
          <p:nvPr/>
        </p:nvSpPr>
        <p:spPr>
          <a:xfrm>
            <a:off x="731520" y="2852928"/>
            <a:ext cx="3474720" cy="292608"/>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You go first</a:t>
            </a:r>
            <a:endParaRPr lang="en-US" sz="1350" dirty="0"/>
          </a:p>
        </p:txBody>
      </p:sp>
      <p:sp>
        <p:nvSpPr>
          <p:cNvPr id="12" name="Text 10"/>
          <p:cNvSpPr/>
          <p:nvPr/>
        </p:nvSpPr>
        <p:spPr>
          <a:xfrm>
            <a:off x="731520" y="3172968"/>
            <a:ext cx="3474720" cy="50292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If the facilitator is not exposed to the same scrutiny, nobody really is.</a:t>
            </a:r>
            <a:endParaRPr lang="en-US" sz="1150" dirty="0"/>
          </a:p>
        </p:txBody>
      </p:sp>
      <p:sp>
        <p:nvSpPr>
          <p:cNvPr id="13" name="Shape 11"/>
          <p:cNvSpPr/>
          <p:nvPr/>
        </p:nvSpPr>
        <p:spPr>
          <a:xfrm>
            <a:off x="4709160" y="2715768"/>
            <a:ext cx="3931920" cy="105156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4" name="Text 12"/>
          <p:cNvSpPr/>
          <p:nvPr/>
        </p:nvSpPr>
        <p:spPr>
          <a:xfrm>
            <a:off x="4937760" y="2852928"/>
            <a:ext cx="3474720" cy="292608"/>
          </a:xfrm>
          <a:prstGeom prst="rect">
            <a:avLst/>
          </a:prstGeom>
          <a:noFill/>
          <a:ln/>
        </p:spPr>
        <p:txBody>
          <a:bodyPr wrap="square" lIns="0" tIns="0" rIns="0" bIns="0" rtlCol="0" anchor="ctr"/>
          <a:lstStyle/>
          <a:p>
            <a:pPr indent="0" marL="0">
              <a:buNone/>
            </a:pPr>
            <a:r>
              <a:rPr lang="en-US" sz="1350" b="1" dirty="0">
                <a:solidFill>
                  <a:srgbClr val="0D1526"/>
                </a:solidFill>
                <a:latin typeface="Calibri" pitchFamily="34" charset="0"/>
                <a:ea typeface="Calibri" pitchFamily="34" charset="-122"/>
                <a:cs typeface="Calibri" pitchFamily="34" charset="-120"/>
              </a:rPr>
              <a:t>The text is judged</a:t>
            </a:r>
            <a:endParaRPr lang="en-US" sz="1350" dirty="0"/>
          </a:p>
        </p:txBody>
      </p:sp>
      <p:sp>
        <p:nvSpPr>
          <p:cNvPr id="15" name="Text 13"/>
          <p:cNvSpPr/>
          <p:nvPr/>
        </p:nvSpPr>
        <p:spPr>
          <a:xfrm>
            <a:off x="4937760" y="3172968"/>
            <a:ext cx="3474720" cy="502920"/>
          </a:xfrm>
          <a:prstGeom prst="rect">
            <a:avLst/>
          </a:prstGeom>
          <a:noFill/>
          <a:ln/>
        </p:spPr>
        <p:txBody>
          <a:bodyPr wrap="square" lIns="0" tIns="0" rIns="0" bIns="0" rtlCol="0" anchor="t"/>
          <a:lstStyle/>
          <a:p>
            <a:pPr indent="0" marL="0">
              <a:lnSpc>
                <a:spcPts val="1500"/>
              </a:lnSpc>
              <a:buNone/>
            </a:pPr>
            <a:r>
              <a:rPr lang="en-US" sz="1150" dirty="0">
                <a:solidFill>
                  <a:srgbClr val="4B5670"/>
                </a:solidFill>
                <a:latin typeface="Calibri" pitchFamily="34" charset="0"/>
                <a:ea typeface="Calibri" pitchFamily="34" charset="-122"/>
                <a:cs typeface="Calibri" pitchFamily="34" charset="-120"/>
              </a:rPr>
              <a:t>The same behaviour-versus-identity distinction, applied to a document.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GROUP CRITIQUE</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FFFFFF"/>
                </a:solidFill>
                <a:latin typeface="Cambria" pitchFamily="34" charset="0"/>
                <a:ea typeface="Cambria" pitchFamily="34" charset="-122"/>
                <a:cs typeface="Cambria" pitchFamily="34" charset="-120"/>
              </a:rPr>
              <a:t>Three volunteers read their sentence and the group asks "so what?" out loud</a:t>
            </a:r>
            <a:endParaRPr lang="en-US" sz="2600" dirty="0"/>
          </a:p>
        </p:txBody>
      </p:sp>
      <p:sp>
        <p:nvSpPr>
          <p:cNvPr id="4" name="Text 2"/>
          <p:cNvSpPr/>
          <p:nvPr/>
        </p:nvSpPr>
        <p:spPr>
          <a:xfrm>
            <a:off x="502920" y="2286000"/>
            <a:ext cx="7772400" cy="411480"/>
          </a:xfrm>
          <a:prstGeom prst="rect">
            <a:avLst/>
          </a:prstGeom>
          <a:noFill/>
          <a:ln/>
        </p:spPr>
        <p:txBody>
          <a:bodyPr wrap="square" lIns="0" tIns="0" rIns="0" bIns="0" rtlCol="0" anchor="ctr"/>
          <a:lstStyle/>
          <a:p>
            <a:pPr indent="0" marL="0">
              <a:buNone/>
            </a:pPr>
            <a:r>
              <a:rPr lang="en-US" sz="2000" i="1" dirty="0">
                <a:solidFill>
                  <a:srgbClr val="B3841C"/>
                </a:solidFill>
                <a:latin typeface="Cambria" pitchFamily="34" charset="0"/>
                <a:ea typeface="Cambria" pitchFamily="34" charset="-122"/>
                <a:cs typeface="Cambria" pitchFamily="34" charset="-120"/>
              </a:rPr>
              <a:t>It is uncomfortable. That is where the learning happens.</a:t>
            </a:r>
            <a:endParaRPr lang="en-US" sz="2000" dirty="0"/>
          </a:p>
        </p:txBody>
      </p:sp>
      <p:sp>
        <p:nvSpPr>
          <p:cNvPr id="5" name="Text 3"/>
          <p:cNvSpPr/>
          <p:nvPr/>
        </p:nvSpPr>
        <p:spPr>
          <a:xfrm>
            <a:off x="502920" y="2834640"/>
            <a:ext cx="6217920" cy="822960"/>
          </a:xfrm>
          <a:prstGeom prst="rect">
            <a:avLst/>
          </a:prstGeom>
          <a:noFill/>
          <a:ln/>
        </p:spPr>
        <p:txBody>
          <a:bodyPr wrap="square" lIns="0" tIns="0" rIns="0" bIns="0" rtlCol="0" anchor="t"/>
          <a:lstStyle/>
          <a:p>
            <a:pPr indent="0" marL="0">
              <a:lnSpc>
                <a:spcPts val="1900"/>
              </a:lnSpc>
              <a:buNone/>
            </a:pPr>
            <a:r>
              <a:rPr lang="en-US" sz="1300" dirty="0">
                <a:solidFill>
                  <a:srgbClr val="AEB9D0"/>
                </a:solidFill>
                <a:latin typeface="Calibri" pitchFamily="34" charset="0"/>
                <a:ea typeface="Calibri" pitchFamily="34" charset="-122"/>
                <a:cs typeface="Calibri" pitchFamily="34" charset="-120"/>
              </a:rPr>
              <a:t>The goal is not to fix three documents: it is for the other five to recognise their own writing in the one being criticised.</a:t>
            </a:r>
            <a:endParaRPr lang="en-US" sz="1300" dirty="0"/>
          </a:p>
        </p:txBody>
      </p:sp>
      <p:sp>
        <p:nvSpPr>
          <p:cNvPr id="6" name="Shape 4"/>
          <p:cNvSpPr/>
          <p:nvPr/>
        </p:nvSpPr>
        <p:spPr>
          <a:xfrm>
            <a:off x="502920" y="3886200"/>
            <a:ext cx="777240" cy="310896"/>
          </a:xfrm>
          <a:prstGeom prst="roundRect">
            <a:avLst>
              <a:gd name="adj" fmla="val 50000"/>
            </a:avLst>
          </a:prstGeom>
          <a:solidFill>
            <a:srgbClr val="B3841C"/>
          </a:solidFill>
          <a:ln w="12700">
            <a:solidFill>
              <a:srgbClr val="B3841C"/>
            </a:solidFill>
            <a:prstDash val="solid"/>
          </a:ln>
        </p:spPr>
      </p:sp>
      <p:sp>
        <p:nvSpPr>
          <p:cNvPr id="7" name="Text 5"/>
          <p:cNvSpPr/>
          <p:nvPr/>
        </p:nvSpPr>
        <p:spPr>
          <a:xfrm>
            <a:off x="502920" y="3886200"/>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20 min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EXERCISE 2</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FFFFFF"/>
                </a:solidFill>
                <a:latin typeface="Cambria" pitchFamily="34" charset="0"/>
                <a:ea typeface="Cambria" pitchFamily="34" charset="-122"/>
                <a:cs typeface="Cambria" pitchFamily="34" charset="-120"/>
              </a:rPr>
              <a:t>Rewrite your introduction using SCQA, in four lines</a:t>
            </a:r>
            <a:endParaRPr lang="en-US" sz="2600" dirty="0"/>
          </a:p>
        </p:txBody>
      </p:sp>
      <p:sp>
        <p:nvSpPr>
          <p:cNvPr id="4" name="Shape 2"/>
          <p:cNvSpPr/>
          <p:nvPr/>
        </p:nvSpPr>
        <p:spPr>
          <a:xfrm>
            <a:off x="502920" y="1965960"/>
            <a:ext cx="310896" cy="310896"/>
          </a:xfrm>
          <a:prstGeom prst="rect">
            <a:avLst/>
          </a:prstGeom>
          <a:solidFill>
            <a:srgbClr val="223050"/>
          </a:solidFill>
          <a:ln w="12700">
            <a:solidFill>
              <a:srgbClr val="2E3E63"/>
            </a:solidFill>
            <a:prstDash val="solid"/>
          </a:ln>
        </p:spPr>
      </p:sp>
      <p:sp>
        <p:nvSpPr>
          <p:cNvPr id="5" name="Text 3"/>
          <p:cNvSpPr/>
          <p:nvPr/>
        </p:nvSpPr>
        <p:spPr>
          <a:xfrm>
            <a:off x="502920" y="1965960"/>
            <a:ext cx="310896" cy="310896"/>
          </a:xfrm>
          <a:prstGeom prst="rect">
            <a:avLst/>
          </a:prstGeom>
          <a:noFill/>
          <a:ln/>
        </p:spPr>
        <p:txBody>
          <a:bodyPr wrap="square" lIns="0" tIns="0" rIns="0" bIns="0" rtlCol="0" anchor="ctr"/>
          <a:lstStyle/>
          <a:p>
            <a:pPr algn="ctr" indent="0" marL="0">
              <a:buNone/>
            </a:pPr>
            <a:r>
              <a:rPr lang="en-US" sz="1300" b="1" dirty="0">
                <a:solidFill>
                  <a:srgbClr val="B3841C"/>
                </a:solidFill>
                <a:latin typeface="Cambria" pitchFamily="34" charset="0"/>
                <a:ea typeface="Cambria" pitchFamily="34" charset="-122"/>
                <a:cs typeface="Cambria" pitchFamily="34" charset="-120"/>
              </a:rPr>
              <a:t>S</a:t>
            </a:r>
            <a:endParaRPr lang="en-US" sz="1300" dirty="0"/>
          </a:p>
        </p:txBody>
      </p:sp>
      <p:sp>
        <p:nvSpPr>
          <p:cNvPr id="6" name="Text 4"/>
          <p:cNvSpPr/>
          <p:nvPr/>
        </p:nvSpPr>
        <p:spPr>
          <a:xfrm>
            <a:off x="1005840" y="1965960"/>
            <a:ext cx="5943600" cy="310896"/>
          </a:xfrm>
          <a:prstGeom prst="rect">
            <a:avLst/>
          </a:prstGeom>
          <a:noFill/>
          <a:ln/>
        </p:spPr>
        <p:txBody>
          <a:bodyPr wrap="square" lIns="0" tIns="0" rIns="0" bIns="0" rtlCol="0" anchor="ctr"/>
          <a:lstStyle/>
          <a:p>
            <a:pPr indent="0" marL="0">
              <a:buNone/>
            </a:pPr>
            <a:r>
              <a:rPr lang="en-US" sz="1300" dirty="0">
                <a:solidFill>
                  <a:srgbClr val="AEB9D0"/>
                </a:solidFill>
                <a:latin typeface="Calibri" pitchFamily="34" charset="0"/>
                <a:ea typeface="Calibri" pitchFamily="34" charset="-122"/>
                <a:cs typeface="Calibri" pitchFamily="34" charset="-120"/>
              </a:rPr>
              <a:t>Situation: a fact nobody disputes</a:t>
            </a:r>
            <a:endParaRPr lang="en-US" sz="1300" dirty="0"/>
          </a:p>
        </p:txBody>
      </p:sp>
      <p:sp>
        <p:nvSpPr>
          <p:cNvPr id="7" name="Shape 5"/>
          <p:cNvSpPr/>
          <p:nvPr/>
        </p:nvSpPr>
        <p:spPr>
          <a:xfrm>
            <a:off x="502920" y="2423160"/>
            <a:ext cx="310896" cy="310896"/>
          </a:xfrm>
          <a:prstGeom prst="rect">
            <a:avLst/>
          </a:prstGeom>
          <a:solidFill>
            <a:srgbClr val="223050"/>
          </a:solidFill>
          <a:ln w="12700">
            <a:solidFill>
              <a:srgbClr val="2E3E63"/>
            </a:solidFill>
            <a:prstDash val="solid"/>
          </a:ln>
        </p:spPr>
      </p:sp>
      <p:sp>
        <p:nvSpPr>
          <p:cNvPr id="8" name="Text 6"/>
          <p:cNvSpPr/>
          <p:nvPr/>
        </p:nvSpPr>
        <p:spPr>
          <a:xfrm>
            <a:off x="502920" y="2423160"/>
            <a:ext cx="310896" cy="310896"/>
          </a:xfrm>
          <a:prstGeom prst="rect">
            <a:avLst/>
          </a:prstGeom>
          <a:noFill/>
          <a:ln/>
        </p:spPr>
        <p:txBody>
          <a:bodyPr wrap="square" lIns="0" tIns="0" rIns="0" bIns="0" rtlCol="0" anchor="ctr"/>
          <a:lstStyle/>
          <a:p>
            <a:pPr algn="ctr" indent="0" marL="0">
              <a:buNone/>
            </a:pPr>
            <a:r>
              <a:rPr lang="en-US" sz="1300" b="1" dirty="0">
                <a:solidFill>
                  <a:srgbClr val="B3841C"/>
                </a:solidFill>
                <a:latin typeface="Cambria" pitchFamily="34" charset="0"/>
                <a:ea typeface="Cambria" pitchFamily="34" charset="-122"/>
                <a:cs typeface="Cambria" pitchFamily="34" charset="-120"/>
              </a:rPr>
              <a:t>C</a:t>
            </a:r>
            <a:endParaRPr lang="en-US" sz="1300" dirty="0"/>
          </a:p>
        </p:txBody>
      </p:sp>
      <p:sp>
        <p:nvSpPr>
          <p:cNvPr id="9" name="Text 7"/>
          <p:cNvSpPr/>
          <p:nvPr/>
        </p:nvSpPr>
        <p:spPr>
          <a:xfrm>
            <a:off x="1005840" y="2423160"/>
            <a:ext cx="5943600" cy="310896"/>
          </a:xfrm>
          <a:prstGeom prst="rect">
            <a:avLst/>
          </a:prstGeom>
          <a:noFill/>
          <a:ln/>
        </p:spPr>
        <p:txBody>
          <a:bodyPr wrap="square" lIns="0" tIns="0" rIns="0" bIns="0" rtlCol="0" anchor="ctr"/>
          <a:lstStyle/>
          <a:p>
            <a:pPr indent="0" marL="0">
              <a:buNone/>
            </a:pPr>
            <a:r>
              <a:rPr lang="en-US" sz="1300" dirty="0">
                <a:solidFill>
                  <a:srgbClr val="AEB9D0"/>
                </a:solidFill>
                <a:latin typeface="Calibri" pitchFamily="34" charset="0"/>
                <a:ea typeface="Calibri" pitchFamily="34" charset="-122"/>
                <a:cs typeface="Calibri" pitchFamily="34" charset="-120"/>
              </a:rPr>
              <a:t>Complication: what changed</a:t>
            </a:r>
            <a:endParaRPr lang="en-US" sz="1300" dirty="0"/>
          </a:p>
        </p:txBody>
      </p:sp>
      <p:sp>
        <p:nvSpPr>
          <p:cNvPr id="10" name="Shape 8"/>
          <p:cNvSpPr/>
          <p:nvPr/>
        </p:nvSpPr>
        <p:spPr>
          <a:xfrm>
            <a:off x="502920" y="2880360"/>
            <a:ext cx="310896" cy="310896"/>
          </a:xfrm>
          <a:prstGeom prst="rect">
            <a:avLst/>
          </a:prstGeom>
          <a:solidFill>
            <a:srgbClr val="223050"/>
          </a:solidFill>
          <a:ln w="12700">
            <a:solidFill>
              <a:srgbClr val="2E3E63"/>
            </a:solidFill>
            <a:prstDash val="solid"/>
          </a:ln>
        </p:spPr>
      </p:sp>
      <p:sp>
        <p:nvSpPr>
          <p:cNvPr id="11" name="Text 9"/>
          <p:cNvSpPr/>
          <p:nvPr/>
        </p:nvSpPr>
        <p:spPr>
          <a:xfrm>
            <a:off x="502920" y="2880360"/>
            <a:ext cx="310896" cy="310896"/>
          </a:xfrm>
          <a:prstGeom prst="rect">
            <a:avLst/>
          </a:prstGeom>
          <a:noFill/>
          <a:ln/>
        </p:spPr>
        <p:txBody>
          <a:bodyPr wrap="square" lIns="0" tIns="0" rIns="0" bIns="0" rtlCol="0" anchor="ctr"/>
          <a:lstStyle/>
          <a:p>
            <a:pPr algn="ctr" indent="0" marL="0">
              <a:buNone/>
            </a:pPr>
            <a:r>
              <a:rPr lang="en-US" sz="1300" b="1" dirty="0">
                <a:solidFill>
                  <a:srgbClr val="B3841C"/>
                </a:solidFill>
                <a:latin typeface="Cambria" pitchFamily="34" charset="0"/>
                <a:ea typeface="Cambria" pitchFamily="34" charset="-122"/>
                <a:cs typeface="Cambria" pitchFamily="34" charset="-120"/>
              </a:rPr>
              <a:t>Q</a:t>
            </a:r>
            <a:endParaRPr lang="en-US" sz="1300" dirty="0"/>
          </a:p>
        </p:txBody>
      </p:sp>
      <p:sp>
        <p:nvSpPr>
          <p:cNvPr id="12" name="Text 10"/>
          <p:cNvSpPr/>
          <p:nvPr/>
        </p:nvSpPr>
        <p:spPr>
          <a:xfrm>
            <a:off x="1005840" y="2880360"/>
            <a:ext cx="5943600" cy="310896"/>
          </a:xfrm>
          <a:prstGeom prst="rect">
            <a:avLst/>
          </a:prstGeom>
          <a:noFill/>
          <a:ln/>
        </p:spPr>
        <p:txBody>
          <a:bodyPr wrap="square" lIns="0" tIns="0" rIns="0" bIns="0" rtlCol="0" anchor="ctr"/>
          <a:lstStyle/>
          <a:p>
            <a:pPr indent="0" marL="0">
              <a:buNone/>
            </a:pPr>
            <a:r>
              <a:rPr lang="en-US" sz="1300" dirty="0">
                <a:solidFill>
                  <a:srgbClr val="AEB9D0"/>
                </a:solidFill>
                <a:latin typeface="Calibri" pitchFamily="34" charset="0"/>
                <a:ea typeface="Calibri" pitchFamily="34" charset="-122"/>
                <a:cs typeface="Calibri" pitchFamily="34" charset="-120"/>
              </a:rPr>
              <a:t>Question: what opens up (do not write it)</a:t>
            </a:r>
            <a:endParaRPr lang="en-US" sz="1300" dirty="0"/>
          </a:p>
        </p:txBody>
      </p:sp>
      <p:sp>
        <p:nvSpPr>
          <p:cNvPr id="13" name="Shape 11"/>
          <p:cNvSpPr/>
          <p:nvPr/>
        </p:nvSpPr>
        <p:spPr>
          <a:xfrm>
            <a:off x="502920" y="3337560"/>
            <a:ext cx="310896" cy="310896"/>
          </a:xfrm>
          <a:prstGeom prst="rect">
            <a:avLst/>
          </a:prstGeom>
          <a:solidFill>
            <a:srgbClr val="B3841C"/>
          </a:solidFill>
          <a:ln w="12700">
            <a:solidFill>
              <a:srgbClr val="B3841C"/>
            </a:solidFill>
            <a:prstDash val="solid"/>
          </a:ln>
        </p:spPr>
      </p:sp>
      <p:sp>
        <p:nvSpPr>
          <p:cNvPr id="14" name="Text 12"/>
          <p:cNvSpPr/>
          <p:nvPr/>
        </p:nvSpPr>
        <p:spPr>
          <a:xfrm>
            <a:off x="502920" y="3337560"/>
            <a:ext cx="310896" cy="310896"/>
          </a:xfrm>
          <a:prstGeom prst="rect">
            <a:avLst/>
          </a:prstGeom>
          <a:noFill/>
          <a:ln/>
        </p:spPr>
        <p:txBody>
          <a:bodyPr wrap="square" lIns="0" tIns="0" rIns="0" bIns="0" rtlCol="0" anchor="ctr"/>
          <a:lstStyle/>
          <a:p>
            <a:pPr algn="ctr" indent="0" marL="0">
              <a:buNone/>
            </a:pPr>
            <a:r>
              <a:rPr lang="en-US" sz="1300" b="1" dirty="0">
                <a:solidFill>
                  <a:srgbClr val="17120A"/>
                </a:solidFill>
                <a:latin typeface="Cambria" pitchFamily="34" charset="0"/>
                <a:ea typeface="Cambria" pitchFamily="34" charset="-122"/>
                <a:cs typeface="Cambria" pitchFamily="34" charset="-120"/>
              </a:rPr>
              <a:t>A</a:t>
            </a:r>
            <a:endParaRPr lang="en-US" sz="1300" dirty="0"/>
          </a:p>
        </p:txBody>
      </p:sp>
      <p:sp>
        <p:nvSpPr>
          <p:cNvPr id="15" name="Text 13"/>
          <p:cNvSpPr/>
          <p:nvPr/>
        </p:nvSpPr>
        <p:spPr>
          <a:xfrm>
            <a:off x="1005840" y="3337560"/>
            <a:ext cx="5943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Answer: your conclusion</a:t>
            </a:r>
            <a:endParaRPr lang="en-US" sz="1300" dirty="0"/>
          </a:p>
        </p:txBody>
      </p:sp>
      <p:sp>
        <p:nvSpPr>
          <p:cNvPr id="16" name="Shape 14"/>
          <p:cNvSpPr/>
          <p:nvPr/>
        </p:nvSpPr>
        <p:spPr>
          <a:xfrm>
            <a:off x="502920" y="3931920"/>
            <a:ext cx="777240" cy="310896"/>
          </a:xfrm>
          <a:prstGeom prst="roundRect">
            <a:avLst>
              <a:gd name="adj" fmla="val 50000"/>
            </a:avLst>
          </a:prstGeom>
          <a:solidFill>
            <a:srgbClr val="B3841C"/>
          </a:solidFill>
          <a:ln w="12700">
            <a:solidFill>
              <a:srgbClr val="B3841C"/>
            </a:solidFill>
            <a:prstDash val="solid"/>
          </a:ln>
        </p:spPr>
      </p:sp>
      <p:sp>
        <p:nvSpPr>
          <p:cNvPr id="17" name="Text 15"/>
          <p:cNvSpPr/>
          <p:nvPr/>
        </p:nvSpPr>
        <p:spPr>
          <a:xfrm>
            <a:off x="502920" y="3931920"/>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15 min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TO SPOT WHEN REREADING</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Five signs the document is not structured yet</a:t>
            </a:r>
            <a:endParaRPr lang="en-US" sz="2600" dirty="0"/>
          </a:p>
        </p:txBody>
      </p:sp>
      <p:sp>
        <p:nvSpPr>
          <p:cNvPr id="4" name="Shape 2"/>
          <p:cNvSpPr/>
          <p:nvPr/>
        </p:nvSpPr>
        <p:spPr>
          <a:xfrm>
            <a:off x="502920" y="1481328"/>
            <a:ext cx="8138160" cy="530352"/>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04088" y="1481328"/>
            <a:ext cx="457200" cy="530352"/>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280160" y="1481328"/>
            <a:ext cx="7132320" cy="530352"/>
          </a:xfrm>
          <a:prstGeom prst="rect">
            <a:avLst/>
          </a:prstGeom>
          <a:noFill/>
          <a:ln/>
        </p:spPr>
        <p:txBody>
          <a:bodyPr wrap="square" lIns="0" tIns="0" rIns="0" bIns="0" rtlCol="0" anchor="ctr"/>
          <a:lstStyle/>
          <a:p>
            <a:pPr indent="0" marL="0">
              <a:buNone/>
            </a:pPr>
            <a:r>
              <a:rPr lang="en-US" sz="1300" dirty="0">
                <a:solidFill>
                  <a:srgbClr val="0D1526"/>
                </a:solidFill>
                <a:latin typeface="Calibri" pitchFamily="34" charset="0"/>
                <a:ea typeface="Calibri" pitchFamily="34" charset="-122"/>
                <a:cs typeface="Calibri" pitchFamily="34" charset="-120"/>
              </a:rPr>
              <a:t>The conclusion appears on the last page</a:t>
            </a:r>
            <a:endParaRPr lang="en-US" sz="1300" dirty="0"/>
          </a:p>
        </p:txBody>
      </p:sp>
      <p:sp>
        <p:nvSpPr>
          <p:cNvPr id="7" name="Shape 5"/>
          <p:cNvSpPr/>
          <p:nvPr/>
        </p:nvSpPr>
        <p:spPr>
          <a:xfrm>
            <a:off x="502920" y="2084832"/>
            <a:ext cx="8138160" cy="530352"/>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8" name="Text 6"/>
          <p:cNvSpPr/>
          <p:nvPr/>
        </p:nvSpPr>
        <p:spPr>
          <a:xfrm>
            <a:off x="704088" y="2084832"/>
            <a:ext cx="457200" cy="530352"/>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1280160" y="2084832"/>
            <a:ext cx="7132320" cy="530352"/>
          </a:xfrm>
          <a:prstGeom prst="rect">
            <a:avLst/>
          </a:prstGeom>
          <a:noFill/>
          <a:ln/>
        </p:spPr>
        <p:txBody>
          <a:bodyPr wrap="square" lIns="0" tIns="0" rIns="0" bIns="0" rtlCol="0" anchor="ctr"/>
          <a:lstStyle/>
          <a:p>
            <a:pPr indent="0" marL="0">
              <a:buNone/>
            </a:pPr>
            <a:r>
              <a:rPr lang="en-US" sz="1300" dirty="0">
                <a:solidFill>
                  <a:srgbClr val="0D1526"/>
                </a:solidFill>
                <a:latin typeface="Calibri" pitchFamily="34" charset="0"/>
                <a:ea typeface="Calibri" pitchFamily="34" charset="-122"/>
                <a:cs typeface="Calibri" pitchFamily="34" charset="-120"/>
              </a:rPr>
              <a:t>Headings name topics, not ideas</a:t>
            </a:r>
            <a:endParaRPr lang="en-US" sz="1300" dirty="0"/>
          </a:p>
        </p:txBody>
      </p:sp>
      <p:sp>
        <p:nvSpPr>
          <p:cNvPr id="10" name="Shape 8"/>
          <p:cNvSpPr/>
          <p:nvPr/>
        </p:nvSpPr>
        <p:spPr>
          <a:xfrm>
            <a:off x="502920" y="2688336"/>
            <a:ext cx="8138160" cy="530352"/>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1" name="Text 9"/>
          <p:cNvSpPr/>
          <p:nvPr/>
        </p:nvSpPr>
        <p:spPr>
          <a:xfrm>
            <a:off x="704088" y="2688336"/>
            <a:ext cx="457200" cy="530352"/>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03</a:t>
            </a:r>
            <a:endParaRPr lang="en-US" sz="1300" dirty="0"/>
          </a:p>
        </p:txBody>
      </p:sp>
      <p:sp>
        <p:nvSpPr>
          <p:cNvPr id="12" name="Text 10"/>
          <p:cNvSpPr/>
          <p:nvPr/>
        </p:nvSpPr>
        <p:spPr>
          <a:xfrm>
            <a:off x="1280160" y="2688336"/>
            <a:ext cx="7132320" cy="530352"/>
          </a:xfrm>
          <a:prstGeom prst="rect">
            <a:avLst/>
          </a:prstGeom>
          <a:noFill/>
          <a:ln/>
        </p:spPr>
        <p:txBody>
          <a:bodyPr wrap="square" lIns="0" tIns="0" rIns="0" bIns="0" rtlCol="0" anchor="ctr"/>
          <a:lstStyle/>
          <a:p>
            <a:pPr indent="0" marL="0">
              <a:buNone/>
            </a:pPr>
            <a:r>
              <a:rPr lang="en-US" sz="1300" dirty="0">
                <a:solidFill>
                  <a:srgbClr val="0D1526"/>
                </a:solidFill>
                <a:latin typeface="Calibri" pitchFamily="34" charset="0"/>
                <a:ea typeface="Calibri" pitchFamily="34" charset="-122"/>
                <a:cs typeface="Calibri" pitchFamily="34" charset="-120"/>
              </a:rPr>
              <a:t>"We identified three problems" and nothing else</a:t>
            </a:r>
            <a:endParaRPr lang="en-US" sz="1300" dirty="0"/>
          </a:p>
        </p:txBody>
      </p:sp>
      <p:sp>
        <p:nvSpPr>
          <p:cNvPr id="13" name="Shape 11"/>
          <p:cNvSpPr/>
          <p:nvPr/>
        </p:nvSpPr>
        <p:spPr>
          <a:xfrm>
            <a:off x="502920" y="3291840"/>
            <a:ext cx="8138160" cy="530352"/>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4" name="Text 12"/>
          <p:cNvSpPr/>
          <p:nvPr/>
        </p:nvSpPr>
        <p:spPr>
          <a:xfrm>
            <a:off x="704088" y="3291840"/>
            <a:ext cx="457200" cy="530352"/>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04</a:t>
            </a:r>
            <a:endParaRPr lang="en-US" sz="1300" dirty="0"/>
          </a:p>
        </p:txBody>
      </p:sp>
      <p:sp>
        <p:nvSpPr>
          <p:cNvPr id="15" name="Text 13"/>
          <p:cNvSpPr/>
          <p:nvPr/>
        </p:nvSpPr>
        <p:spPr>
          <a:xfrm>
            <a:off x="1280160" y="3291840"/>
            <a:ext cx="7132320" cy="530352"/>
          </a:xfrm>
          <a:prstGeom prst="rect">
            <a:avLst/>
          </a:prstGeom>
          <a:noFill/>
          <a:ln/>
        </p:spPr>
        <p:txBody>
          <a:bodyPr wrap="square" lIns="0" tIns="0" rIns="0" bIns="0" rtlCol="0" anchor="ctr"/>
          <a:lstStyle/>
          <a:p>
            <a:pPr indent="0" marL="0">
              <a:buNone/>
            </a:pPr>
            <a:r>
              <a:rPr lang="en-US" sz="1300" dirty="0">
                <a:solidFill>
                  <a:srgbClr val="0D1526"/>
                </a:solidFill>
                <a:latin typeface="Calibri" pitchFamily="34" charset="0"/>
                <a:ea typeface="Calibri" pitchFamily="34" charset="-122"/>
                <a:cs typeface="Calibri" pitchFamily="34" charset="-120"/>
              </a:rPr>
              <a:t>The introduction explains everything you did</a:t>
            </a:r>
            <a:endParaRPr lang="en-US" sz="1300" dirty="0"/>
          </a:p>
        </p:txBody>
      </p:sp>
      <p:sp>
        <p:nvSpPr>
          <p:cNvPr id="16" name="Shape 14"/>
          <p:cNvSpPr/>
          <p:nvPr/>
        </p:nvSpPr>
        <p:spPr>
          <a:xfrm>
            <a:off x="502920" y="3895344"/>
            <a:ext cx="8138160" cy="530352"/>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17" name="Text 15"/>
          <p:cNvSpPr/>
          <p:nvPr/>
        </p:nvSpPr>
        <p:spPr>
          <a:xfrm>
            <a:off x="704088" y="3895344"/>
            <a:ext cx="457200" cy="530352"/>
          </a:xfrm>
          <a:prstGeom prst="rect">
            <a:avLst/>
          </a:prstGeom>
          <a:noFill/>
          <a:ln/>
        </p:spPr>
        <p:txBody>
          <a:bodyPr wrap="square" lIns="0" tIns="0" rIns="0" bIns="0" rtlCol="0" anchor="ctr"/>
          <a:lstStyle/>
          <a:p>
            <a:pPr indent="0" marL="0">
              <a:buNone/>
            </a:pPr>
            <a:r>
              <a:rPr lang="en-US" sz="1300" b="1" dirty="0">
                <a:solidFill>
                  <a:srgbClr val="B3841C"/>
                </a:solidFill>
                <a:latin typeface="Calibri" pitchFamily="34" charset="0"/>
                <a:ea typeface="Calibri" pitchFamily="34" charset="-122"/>
                <a:cs typeface="Calibri" pitchFamily="34" charset="-120"/>
              </a:rPr>
              <a:t>05</a:t>
            </a:r>
            <a:endParaRPr lang="en-US" sz="1300" dirty="0"/>
          </a:p>
        </p:txBody>
      </p:sp>
      <p:sp>
        <p:nvSpPr>
          <p:cNvPr id="18" name="Text 16"/>
          <p:cNvSpPr/>
          <p:nvPr/>
        </p:nvSpPr>
        <p:spPr>
          <a:xfrm>
            <a:off x="1280160" y="3895344"/>
            <a:ext cx="7132320" cy="530352"/>
          </a:xfrm>
          <a:prstGeom prst="rect">
            <a:avLst/>
          </a:prstGeom>
          <a:noFill/>
          <a:ln/>
        </p:spPr>
        <p:txBody>
          <a:bodyPr wrap="square" lIns="0" tIns="0" rIns="0" bIns="0" rtlCol="0" anchor="ctr"/>
          <a:lstStyle/>
          <a:p>
            <a:pPr indent="0" marL="0">
              <a:buNone/>
            </a:pPr>
            <a:r>
              <a:rPr lang="en-US" sz="1300" dirty="0">
                <a:solidFill>
                  <a:srgbClr val="0D1526"/>
                </a:solidFill>
                <a:latin typeface="Calibri" pitchFamily="34" charset="0"/>
                <a:ea typeface="Calibri" pitchFamily="34" charset="-122"/>
                <a:cs typeface="Calibri" pitchFamily="34" charset="-120"/>
              </a:rPr>
              <a:t>The slide title is the variable plotted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526"/>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CLOSE</a:t>
            </a:r>
            <a:endParaRPr lang="en-US" sz="1000" dirty="0"/>
          </a:p>
        </p:txBody>
      </p:sp>
      <p:sp>
        <p:nvSpPr>
          <p:cNvPr id="3" name="Text 1"/>
          <p:cNvSpPr/>
          <p:nvPr/>
        </p:nvSpPr>
        <p:spPr>
          <a:xfrm>
            <a:off x="502920" y="1371600"/>
            <a:ext cx="7772400" cy="502920"/>
          </a:xfrm>
          <a:prstGeom prst="rect">
            <a:avLst/>
          </a:prstGeom>
          <a:noFill/>
          <a:ln/>
        </p:spPr>
        <p:txBody>
          <a:bodyPr wrap="square" lIns="0" tIns="0" rIns="0" bIns="0" rtlCol="0" anchor="ctr"/>
          <a:lstStyle/>
          <a:p>
            <a:pPr indent="0" marL="0">
              <a:buNone/>
            </a:pPr>
            <a:r>
              <a:rPr lang="en-US" sz="1500" dirty="0">
                <a:solidFill>
                  <a:srgbClr val="AEB9D0"/>
                </a:solidFill>
                <a:latin typeface="Calibri" pitchFamily="34" charset="0"/>
                <a:ea typeface="Calibri" pitchFamily="34" charset="-122"/>
                <a:cs typeface="Calibri" pitchFamily="34" charset="-120"/>
              </a:rPr>
              <a:t>There is one commitment only</a:t>
            </a:r>
            <a:endParaRPr lang="en-US" sz="1500" dirty="0"/>
          </a:p>
        </p:txBody>
      </p:sp>
      <p:sp>
        <p:nvSpPr>
          <p:cNvPr id="4" name="Text 2"/>
          <p:cNvSpPr/>
          <p:nvPr/>
        </p:nvSpPr>
        <p:spPr>
          <a:xfrm>
            <a:off x="502920" y="1920240"/>
            <a:ext cx="7680960" cy="1371600"/>
          </a:xfrm>
          <a:prstGeom prst="rect">
            <a:avLst/>
          </a:prstGeom>
          <a:noFill/>
          <a:ln/>
        </p:spPr>
        <p:txBody>
          <a:bodyPr wrap="square" lIns="0" tIns="0" rIns="0" bIns="0" rtlCol="0" anchor="ctr"/>
          <a:lstStyle/>
          <a:p>
            <a:pPr indent="0" marL="0">
              <a:lnSpc>
                <a:spcPts val="3400"/>
              </a:lnSpc>
              <a:buNone/>
            </a:pPr>
            <a:r>
              <a:rPr lang="en-US" sz="2700" b="1" dirty="0">
                <a:solidFill>
                  <a:srgbClr val="FFFFFF"/>
                </a:solidFill>
                <a:latin typeface="Cambria" pitchFamily="34" charset="0"/>
                <a:ea typeface="Cambria" pitchFamily="34" charset="-122"/>
                <a:cs typeface="Cambria" pitchFamily="34" charset="-120"/>
              </a:rPr>
              <a:t>For the next month, every email longer than five lines carries the request in the first line.</a:t>
            </a:r>
            <a:endParaRPr lang="en-US" sz="2700" dirty="0"/>
          </a:p>
        </p:txBody>
      </p:sp>
      <p:sp>
        <p:nvSpPr>
          <p:cNvPr id="5" name="Text 3"/>
          <p:cNvSpPr/>
          <p:nvPr/>
        </p:nvSpPr>
        <p:spPr>
          <a:xfrm>
            <a:off x="502920" y="3520440"/>
            <a:ext cx="7680960" cy="365760"/>
          </a:xfrm>
          <a:prstGeom prst="rect">
            <a:avLst/>
          </a:prstGeom>
          <a:noFill/>
          <a:ln/>
        </p:spPr>
        <p:txBody>
          <a:bodyPr wrap="square" lIns="0" tIns="0" rIns="0" bIns="0" rtlCol="0" anchor="ctr"/>
          <a:lstStyle/>
          <a:p>
            <a:pPr indent="0" marL="0">
              <a:buNone/>
            </a:pPr>
            <a:r>
              <a:rPr lang="en-US" sz="1300" dirty="0">
                <a:solidFill>
                  <a:srgbClr val="B3841C"/>
                </a:solidFill>
                <a:latin typeface="Calibri" pitchFamily="34" charset="0"/>
                <a:ea typeface="Calibri" pitchFamily="34" charset="-122"/>
                <a:cs typeface="Calibri" pitchFamily="34" charset="-120"/>
              </a:rPr>
              <a:t>Nothing else. One sustained habit changes more than twenty forgotten rules.</a:t>
            </a:r>
            <a:endParaRPr lang="en-US" sz="1300" dirty="0"/>
          </a:p>
        </p:txBody>
      </p:sp>
      <p:sp>
        <p:nvSpPr>
          <p:cNvPr id="6" name="Shape 4"/>
          <p:cNvSpPr/>
          <p:nvPr/>
        </p:nvSpPr>
        <p:spPr>
          <a:xfrm>
            <a:off x="502920" y="4069080"/>
            <a:ext cx="777240" cy="310896"/>
          </a:xfrm>
          <a:prstGeom prst="roundRect">
            <a:avLst>
              <a:gd name="adj" fmla="val 50000"/>
            </a:avLst>
          </a:prstGeom>
          <a:solidFill>
            <a:srgbClr val="B3841C"/>
          </a:solidFill>
          <a:ln w="12700">
            <a:solidFill>
              <a:srgbClr val="B3841C"/>
            </a:solidFill>
            <a:prstDash val="solid"/>
          </a:ln>
        </p:spPr>
      </p:sp>
      <p:sp>
        <p:nvSpPr>
          <p:cNvPr id="7" name="Text 5"/>
          <p:cNvSpPr/>
          <p:nvPr/>
        </p:nvSpPr>
        <p:spPr>
          <a:xfrm>
            <a:off x="502920" y="4069080"/>
            <a:ext cx="777240" cy="310896"/>
          </a:xfrm>
          <a:prstGeom prst="rect">
            <a:avLst/>
          </a:prstGeom>
          <a:noFill/>
          <a:ln/>
        </p:spPr>
        <p:txBody>
          <a:bodyPr wrap="square" lIns="0" tIns="0" rIns="0" bIns="0" rtlCol="0" anchor="ctr"/>
          <a:lstStyle/>
          <a:p>
            <a:pPr algn="ctr" indent="0" marL="0">
              <a:buNone/>
            </a:pPr>
            <a:r>
              <a:rPr lang="en-US" sz="1100" b="1" dirty="0">
                <a:solidFill>
                  <a:srgbClr val="17120A"/>
                </a:solidFill>
                <a:latin typeface="Calibri" pitchFamily="34" charset="0"/>
                <a:ea typeface="Calibri" pitchFamily="34" charset="-122"/>
                <a:cs typeface="Calibri" pitchFamily="34" charset="-120"/>
              </a:rPr>
              <a:t>10 min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7"/>
        </a:solidFill>
      </p:bgPr>
    </p:bg>
    <p:spTree>
      <p:nvGrpSpPr>
        <p:cNvPr id="1" name=""/>
        <p:cNvGrpSpPr/>
        <p:nvPr/>
      </p:nvGrpSpPr>
      <p:grpSpPr>
        <a:xfrm>
          <a:off x="0" y="0"/>
          <a:ext cx="0" cy="0"/>
          <a:chOff x="0" y="0"/>
          <a:chExt cx="0" cy="0"/>
        </a:xfrm>
      </p:grpSpPr>
      <p:sp>
        <p:nvSpPr>
          <p:cNvPr id="2" name="Text 0"/>
          <p:cNvSpPr/>
          <p:nvPr/>
        </p:nvSpPr>
        <p:spPr>
          <a:xfrm>
            <a:off x="502920" y="146304"/>
            <a:ext cx="8138160" cy="228600"/>
          </a:xfrm>
          <a:prstGeom prst="rect">
            <a:avLst/>
          </a:prstGeom>
          <a:noFill/>
          <a:ln/>
        </p:spPr>
        <p:txBody>
          <a:bodyPr wrap="square" lIns="0" tIns="0" rIns="0" bIns="0" rtlCol="0" anchor="ctr"/>
          <a:lstStyle/>
          <a:p>
            <a:pPr indent="0" marL="0">
              <a:buNone/>
            </a:pPr>
            <a:r>
              <a:rPr lang="en-US" sz="1000" b="1" spc="200" kern="0" dirty="0">
                <a:solidFill>
                  <a:srgbClr val="B3841C"/>
                </a:solidFill>
                <a:latin typeface="Calibri" pitchFamily="34" charset="0"/>
                <a:ea typeface="Calibri" pitchFamily="34" charset="-122"/>
                <a:cs typeface="Calibri" pitchFamily="34" charset="-120"/>
              </a:rPr>
              <a:t>AFTER THE SESSION</a:t>
            </a:r>
            <a:endParaRPr lang="en-US" sz="1000" dirty="0"/>
          </a:p>
        </p:txBody>
      </p:sp>
      <p:sp>
        <p:nvSpPr>
          <p:cNvPr id="3" name="Text 1"/>
          <p:cNvSpPr/>
          <p:nvPr/>
        </p:nvSpPr>
        <p:spPr>
          <a:xfrm>
            <a:off x="502920" y="384048"/>
            <a:ext cx="8138160" cy="868680"/>
          </a:xfrm>
          <a:prstGeom prst="rect">
            <a:avLst/>
          </a:prstGeom>
          <a:noFill/>
          <a:ln/>
        </p:spPr>
        <p:txBody>
          <a:bodyPr wrap="square" lIns="0" tIns="0" rIns="0" bIns="0" rtlCol="0" anchor="t"/>
          <a:lstStyle/>
          <a:p>
            <a:pPr algn="l" indent="0" marL="0">
              <a:lnSpc>
                <a:spcPts val="3000"/>
              </a:lnSpc>
              <a:buNone/>
            </a:pPr>
            <a:r>
              <a:rPr lang="en-US" sz="2600" b="1" dirty="0">
                <a:solidFill>
                  <a:srgbClr val="0D1526"/>
                </a:solidFill>
                <a:latin typeface="Cambria" pitchFamily="34" charset="0"/>
                <a:ea typeface="Cambria" pitchFamily="34" charset="-122"/>
                <a:cs typeface="Cambria" pitchFamily="34" charset="-120"/>
              </a:rPr>
              <a:t>The workshop does not install the habit; what you do in the following weeks does</a:t>
            </a:r>
            <a:endParaRPr lang="en-US" sz="2600" dirty="0"/>
          </a:p>
        </p:txBody>
      </p:sp>
      <p:sp>
        <p:nvSpPr>
          <p:cNvPr id="4" name="Shape 2"/>
          <p:cNvSpPr/>
          <p:nvPr/>
        </p:nvSpPr>
        <p:spPr>
          <a:xfrm>
            <a:off x="502920" y="1554480"/>
            <a:ext cx="3931920" cy="210312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5" name="Text 3"/>
          <p:cNvSpPr/>
          <p:nvPr/>
        </p:nvSpPr>
        <p:spPr>
          <a:xfrm>
            <a:off x="758952" y="1783080"/>
            <a:ext cx="3419856" cy="548640"/>
          </a:xfrm>
          <a:prstGeom prst="rect">
            <a:avLst/>
          </a:prstGeom>
          <a:noFill/>
          <a:ln/>
        </p:spPr>
        <p:txBody>
          <a:bodyPr wrap="square" lIns="0" tIns="0" rIns="0" bIns="0" rtlCol="0" anchor="t"/>
          <a:lstStyle/>
          <a:p>
            <a:pPr indent="0" marL="0">
              <a:lnSpc>
                <a:spcPts val="1900"/>
              </a:lnSpc>
              <a:buNone/>
            </a:pPr>
            <a:r>
              <a:rPr lang="en-US" sz="1400" b="1" dirty="0">
                <a:solidFill>
                  <a:srgbClr val="0D1526"/>
                </a:solidFill>
                <a:latin typeface="Calibri" pitchFamily="34" charset="0"/>
                <a:ea typeface="Calibri" pitchFamily="34" charset="-122"/>
                <a:cs typeface="Calibri" pitchFamily="34" charset="-120"/>
              </a:rPr>
              <a:t>If you return documents with the same question</a:t>
            </a:r>
            <a:endParaRPr lang="en-US" sz="1400" dirty="0"/>
          </a:p>
        </p:txBody>
      </p:sp>
      <p:sp>
        <p:nvSpPr>
          <p:cNvPr id="6" name="Text 4"/>
          <p:cNvSpPr/>
          <p:nvPr/>
        </p:nvSpPr>
        <p:spPr>
          <a:xfrm>
            <a:off x="758952" y="2395728"/>
            <a:ext cx="3419856" cy="1097280"/>
          </a:xfrm>
          <a:prstGeom prst="rect">
            <a:avLst/>
          </a:prstGeom>
          <a:noFill/>
          <a:ln/>
        </p:spPr>
        <p:txBody>
          <a:bodyPr wrap="square" lIns="0" tIns="0" rIns="0" bIns="0" rtlCol="0" anchor="t"/>
          <a:lstStyle/>
          <a:p>
            <a:pPr indent="0" marL="0">
              <a:lnSpc>
                <a:spcPts val="1700"/>
              </a:lnSpc>
              <a:buNone/>
            </a:pPr>
            <a:r>
              <a:rPr lang="en-US" sz="1200" dirty="0">
                <a:solidFill>
                  <a:srgbClr val="4B5670"/>
                </a:solidFill>
                <a:latin typeface="Calibri" pitchFamily="34" charset="0"/>
                <a:ea typeface="Calibri" pitchFamily="34" charset="-122"/>
                <a:cs typeface="Calibri" pitchFamily="34" charset="-120"/>
              </a:rPr>
              <a:t>"What is the conclusion, and does it come first?" — consistently, no exceptions. In two months the team writes differently.</a:t>
            </a:r>
            <a:endParaRPr lang="en-US" sz="1200" dirty="0"/>
          </a:p>
        </p:txBody>
      </p:sp>
      <p:sp>
        <p:nvSpPr>
          <p:cNvPr id="7" name="Shape 5"/>
          <p:cNvSpPr/>
          <p:nvPr/>
        </p:nvSpPr>
        <p:spPr>
          <a:xfrm>
            <a:off x="4709160" y="1554480"/>
            <a:ext cx="3931920" cy="2103120"/>
          </a:xfrm>
          <a:prstGeom prst="rect">
            <a:avLst/>
          </a:prstGeom>
          <a:solidFill>
            <a:srgbClr val="FFFFFF"/>
          </a:solidFill>
          <a:ln w="9525">
            <a:solidFill>
              <a:srgbClr val="D3DAE7"/>
            </a:solidFill>
            <a:prstDash val="solid"/>
          </a:ln>
          <a:effectLst>
            <a:outerShdw sx="100000" sy="100000" kx="0" ky="0" algn="bl" rotWithShape="0" blurRad="101600" dist="25400" dir="5400000">
              <a:srgbClr val="8894AC">
                <a:alpha val="25000"/>
              </a:srgbClr>
            </a:outerShdw>
          </a:effectLst>
        </p:spPr>
      </p:sp>
      <p:sp>
        <p:nvSpPr>
          <p:cNvPr id="8" name="Text 6"/>
          <p:cNvSpPr/>
          <p:nvPr/>
        </p:nvSpPr>
        <p:spPr>
          <a:xfrm>
            <a:off x="4965192" y="1783080"/>
            <a:ext cx="3419856" cy="548640"/>
          </a:xfrm>
          <a:prstGeom prst="rect">
            <a:avLst/>
          </a:prstGeom>
          <a:noFill/>
          <a:ln/>
        </p:spPr>
        <p:txBody>
          <a:bodyPr wrap="square" lIns="0" tIns="0" rIns="0" bIns="0" rtlCol="0" anchor="t"/>
          <a:lstStyle/>
          <a:p>
            <a:pPr indent="0" marL="0">
              <a:lnSpc>
                <a:spcPts val="1900"/>
              </a:lnSpc>
              <a:buNone/>
            </a:pPr>
            <a:r>
              <a:rPr lang="en-US" sz="1400" b="1" dirty="0">
                <a:solidFill>
                  <a:srgbClr val="0D1526"/>
                </a:solidFill>
                <a:latin typeface="Calibri" pitchFamily="34" charset="0"/>
                <a:ea typeface="Calibri" pitchFamily="34" charset="-122"/>
                <a:cs typeface="Calibri" pitchFamily="34" charset="-120"/>
              </a:rPr>
              <a:t>If you do not</a:t>
            </a:r>
            <a:endParaRPr lang="en-US" sz="1400" dirty="0"/>
          </a:p>
        </p:txBody>
      </p:sp>
      <p:sp>
        <p:nvSpPr>
          <p:cNvPr id="9" name="Text 7"/>
          <p:cNvSpPr/>
          <p:nvPr/>
        </p:nvSpPr>
        <p:spPr>
          <a:xfrm>
            <a:off x="4965192" y="2395728"/>
            <a:ext cx="3419856" cy="1097280"/>
          </a:xfrm>
          <a:prstGeom prst="rect">
            <a:avLst/>
          </a:prstGeom>
          <a:noFill/>
          <a:ln/>
        </p:spPr>
        <p:txBody>
          <a:bodyPr wrap="square" lIns="0" tIns="0" rIns="0" bIns="0" rtlCol="0" anchor="t"/>
          <a:lstStyle/>
          <a:p>
            <a:pPr indent="0" marL="0">
              <a:lnSpc>
                <a:spcPts val="1700"/>
              </a:lnSpc>
              <a:buNone/>
            </a:pPr>
            <a:r>
              <a:rPr lang="en-US" sz="1200" dirty="0">
                <a:solidFill>
                  <a:srgbClr val="4B5670"/>
                </a:solidFill>
                <a:latin typeface="Calibri" pitchFamily="34" charset="0"/>
                <a:ea typeface="Calibri" pitchFamily="34" charset="-122"/>
                <a:cs typeface="Calibri" pitchFamily="34" charset="-120"/>
              </a:rPr>
              <a:t>The workshop was a pleasant afternoon with no effect. It is the most common outcome and entirely avoidable.</a:t>
            </a:r>
            <a:endParaRPr lang="en-US" sz="1200" dirty="0"/>
          </a:p>
        </p:txBody>
      </p:sp>
      <p:sp>
        <p:nvSpPr>
          <p:cNvPr id="10" name="Text 8"/>
          <p:cNvSpPr/>
          <p:nvPr/>
        </p:nvSpPr>
        <p:spPr>
          <a:xfrm>
            <a:off x="502920" y="3977640"/>
            <a:ext cx="8138160" cy="365760"/>
          </a:xfrm>
          <a:prstGeom prst="rect">
            <a:avLst/>
          </a:prstGeom>
          <a:noFill/>
          <a:ln/>
        </p:spPr>
        <p:txBody>
          <a:bodyPr wrap="square" lIns="0" tIns="0" rIns="0" bIns="0" rtlCol="0" anchor="ctr"/>
          <a:lstStyle/>
          <a:p>
            <a:pPr indent="0" marL="0">
              <a:buNone/>
            </a:pPr>
            <a:r>
              <a:rPr lang="en-US" sz="1200" dirty="0">
                <a:solidFill>
                  <a:srgbClr val="77809A"/>
                </a:solidFill>
                <a:latin typeface="Calibri" pitchFamily="34" charset="0"/>
                <a:ea typeface="Calibri" pitchFamily="34" charset="-122"/>
                <a:cs typeface="Calibri" pitchFamily="34" charset="-120"/>
              </a:rPr>
              <a:t>The full guide, with the eight applied cases and the glossary, is in the repository.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The Pyramid Principle</dc:title>
  <dc:subject>PptxGenJS Presentation</dc:subject>
  <dc:creator>The Pyramid Principle guide</dc:creator>
  <cp:lastModifiedBy>The Pyramid Principle guide</cp:lastModifiedBy>
  <cp:revision>1</cp:revision>
  <dcterms:created xsi:type="dcterms:W3CDTF">2026-08-29T04:54:48Z</dcterms:created>
  <dcterms:modified xsi:type="dcterms:W3CDTF">2026-08-29T04:54:48Z</dcterms:modified>
</cp:coreProperties>
</file>