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Preséntate y di la regla de la sesión: el 80% del tiempo escriben ellos, no hablo yo. Pide que tengan a la mano el documento propio que trajeron.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leas la agenda entera en voz alta. Basta señalar que la mayor parte del tiempo van a estar escribiendo.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lámina es para ti, no para el grupo. Puedes saltarla en la sesión y usarla al preparar.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 el párrafo en voz alta y pregunta al grupo: ¿qué se está pidiendo? Aguanta el silencio. No rescates la sala demasiado rápido.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Subraya que no se quitó rigor: el detalle sigue existiendo, solo dejó de ir primero.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Aquí suele haber un momento de reconocimiento. Pregunta cuántos escriben del primer modo; casi todos levantan la mano.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Señala que quien solo lee la barra dorada ya puede decidir. Los niveles de abajo existen para quien quiera profundizar.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términos en inglés están a la derecha a propósito: en juntas globales se usan sin traducir.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Haz notar que la pregunta no aparece escrita en el documento real: se produce sola si la complicación está bien elegida.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ejercicio más rentable y el más incómodo: expone cuando no hay conclusión porque no se llegó a una.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Circula por la sala mientras escriben. No corrijas todavía: la crítica viene en el bloque siguiente.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Léelas en voz alta antes de que empiece la crítica. Sin estas reglas el bloque se descompone.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Empieza tú con un documento propio. Si nadie se ofrece, elige a alguien con quien tengas confianza.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Cuatro renglones, uno por elemento. Si la situación les toma tres renglones, está de más.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Puedes usar esta lámina como cierre del bloque de método si el tiempo se acorta.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pidas varios compromisos. Uno solo, verificable, y tú lo refuerzas devolviendo documentos con la misma pregunta.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Cierra aquí. Recuerda al grupo dónde está la guía completa y en qué secciones profundizar según el caso de cada quien.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17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B38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· 90 MINUTOS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178308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Principio de la Pirámide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02920" y="269748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B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estructurar un argumento para que se entienda a la primera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3429000"/>
            <a:ext cx="2011680" cy="0"/>
          </a:xfrm>
          <a:prstGeom prst="line">
            <a:avLst/>
          </a:prstGeom>
          <a:noFill/>
          <a:ln w="25400">
            <a:solidFill>
              <a:srgbClr val="B384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6118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8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 primero · SCQA · El test del "¿y qué?"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38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0D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sesión es 80% ejercicio y 20% exposición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813816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3DAE7"/>
            </a:solidFill>
            <a:prstDash val="solid"/>
          </a:ln>
          <a:effectLst>
            <a:outerShdw sx="100000" sy="100000" kx="0" ky="0" algn="bl" rotWithShape="0" blurRad="101600" dist="25400" dir="5400000">
              <a:srgbClr val="8894AC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04088" y="1389888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130552" y="1389888"/>
            <a:ext cx="5394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documento real que no dice nada. ¿Qué se pide aquí?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680960" y="1490472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B3841C"/>
          </a:solidFill>
          <a:ln w="12700">
            <a:solidFill>
              <a:srgbClr val="B384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0" y="1490472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1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965960"/>
            <a:ext cx="813816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3DAE7"/>
            </a:solidFill>
            <a:prstDash val="solid"/>
          </a:ln>
          <a:effectLst>
            <a:outerShdw sx="100000" sy="100000" kx="0" ky="0" algn="bl" rotWithShape="0" blurRad="101600" dist="25400" dir="5400000">
              <a:srgbClr val="8894AC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04088" y="1965960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130552" y="1965960"/>
            <a:ext cx="5394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tres cosas. Nada de MECE ni deducción todavía.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680960" y="2066544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B3841C"/>
          </a:solidFill>
          <a:ln w="12700">
            <a:solidFill>
              <a:srgbClr val="B384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0" y="2066544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1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2542032"/>
            <a:ext cx="813816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3DAE7"/>
            </a:solidFill>
            <a:prstDash val="solid"/>
          </a:ln>
          <a:effectLst>
            <a:outerShdw sx="100000" sy="100000" kx="0" ky="0" algn="bl" rotWithShape="0" blurRad="101600" dist="25400" dir="5400000">
              <a:srgbClr val="8894AC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04088" y="2542032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130552" y="2542032"/>
            <a:ext cx="5394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conclusión en una oración, sometida al "¿y qué?"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680960" y="2642616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B3841C"/>
          </a:solidFill>
          <a:ln w="12700">
            <a:solidFill>
              <a:srgbClr val="B384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0" y="2642616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1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3118104"/>
            <a:ext cx="813816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3DAE7"/>
            </a:solidFill>
            <a:prstDash val="solid"/>
          </a:ln>
          <a:effectLst>
            <a:outerShdw sx="100000" sy="100000" kx="0" ky="0" algn="bl" rotWithShape="0" blurRad="101600" dist="25400" dir="5400000">
              <a:srgbClr val="8894AC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04088" y="3118104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130552" y="3118104"/>
            <a:ext cx="5394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voluntarios leen. El grupo pregunta en voz alta.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680960" y="3218688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B3841C"/>
          </a:solidFill>
          <a:ln w="12700">
            <a:solidFill>
              <a:srgbClr val="B3841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0" y="321868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1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3694176"/>
            <a:ext cx="813816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3DAE7"/>
            </a:solidFill>
            <a:prstDash val="solid"/>
          </a:ln>
          <a:effectLst>
            <a:outerShdw sx="100000" sy="100000" kx="0" ky="0" algn="bl" rotWithShape="0" blurRad="101600" dist="25400" dir="5400000">
              <a:srgbClr val="8894AC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04088" y="3694176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2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130552" y="3694176"/>
            <a:ext cx="5394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Reescribe tu introducción con SCQA, cuatro renglones.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680960" y="3794760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B3841C"/>
          </a:solidFill>
          <a:ln w="12700">
            <a:solidFill>
              <a:srgbClr val="B3841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80960" y="379476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1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2920" y="4270248"/>
            <a:ext cx="813816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3DAE7"/>
            </a:solidFill>
            <a:prstDash val="solid"/>
          </a:ln>
          <a:effectLst>
            <a:outerShdw sx="100000" sy="100000" kx="0" ky="0" algn="bl" rotWithShape="0" blurRad="101600" dist="25400" dir="5400000">
              <a:srgbClr val="8894AC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04088" y="4270248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130552" y="4270248"/>
            <a:ext cx="5394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compromiso para el mes siguiente.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680960" y="4370832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B3841C"/>
          </a:solidFill>
          <a:ln w="12700">
            <a:solidFill>
              <a:srgbClr val="B3841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80960" y="4370832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1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38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QUIEN FACILITA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0D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un documento propio de cada quien, la sesión no funciona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256032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AE7"/>
            </a:solidFill>
            <a:prstDash val="solid"/>
          </a:ln>
          <a:effectLst>
            <a:outerShdw sx="100000" sy="100000" kx="0" ky="0" algn="bl" rotWithShape="0" blurRad="101600" dist="25400" dir="5400000">
              <a:srgbClr val="8894AC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37360"/>
            <a:ext cx="384048" cy="384048"/>
          </a:xfrm>
          <a:prstGeom prst="ellipse">
            <a:avLst/>
          </a:prstGeom>
          <a:solidFill>
            <a:srgbClr val="F2E7CB"/>
          </a:solidFill>
          <a:ln w="12700">
            <a:solidFill>
              <a:srgbClr val="F2E7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38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26771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quien trae algo suyo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7889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memo, un correo largo o una lámina de resumen que ya haya enviado. Real, no inventado.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91840" y="1508760"/>
            <a:ext cx="256032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AE7"/>
            </a:solidFill>
            <a:prstDash val="solid"/>
          </a:ln>
          <a:effectLst>
            <a:outerShdw sx="100000" sy="100000" kx="0" ky="0" algn="bl" rotWithShape="0" blurRad="101600" dist="25400" dir="5400000">
              <a:srgbClr val="8894AC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20440" y="1737360"/>
            <a:ext cx="384048" cy="384048"/>
          </a:xfrm>
          <a:prstGeom prst="ellipse">
            <a:avLst/>
          </a:prstGeom>
          <a:solidFill>
            <a:srgbClr val="F2E7CB"/>
          </a:solidFill>
          <a:ln w="12700">
            <a:solidFill>
              <a:srgbClr val="F2E7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38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20440" y="226771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 para quien no leyó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20440" y="27889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 la guía antes, pero no supongas que la leyeron. La sesión debe sostenerse sola.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80760" y="1508760"/>
            <a:ext cx="256032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AE7"/>
            </a:solidFill>
            <a:prstDash val="solid"/>
          </a:ln>
          <a:effectLst>
            <a:outerShdw sx="100000" sy="100000" kx="0" ky="0" algn="bl" rotWithShape="0" blurRad="101600" dist="25400" dir="5400000">
              <a:srgbClr val="8894AC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9360" y="1737360"/>
            <a:ext cx="384048" cy="384048"/>
          </a:xfrm>
          <a:prstGeom prst="ellipse">
            <a:avLst/>
          </a:prstGeom>
          <a:solidFill>
            <a:srgbClr val="F2E7CB"/>
          </a:solidFill>
          <a:ln w="12700">
            <a:solidFill>
              <a:srgbClr val="F2E7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38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09360" y="226771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Máximo ocho personas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9360" y="27889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más, nadie recibe crítica individual y el ejercicio se diluye en discusión general.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38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0D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le están pidiendo al lector en este párrafo?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507492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3DAE7"/>
            </a:solidFill>
            <a:prstDash val="solid"/>
          </a:ln>
          <a:effectLst>
            <a:outerShdw sx="100000" sy="100000" kx="0" ky="0" algn="bl" rotWithShape="0" blurRad="101600" dist="25400" dir="5400000">
              <a:srgbClr val="8894AC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58952" y="1691640"/>
            <a:ext cx="4572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23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 realizó el análisis trimestral de la cartera mayorista. Se revisaron 1,240 acreditados con corte a junio. La metodología consistió en el cálculo de tasas de migración por calificación y el análisis de cosechas. Los resultados muestran variaciones en varios segmentos. En la sección 4 se presentan las conclusiones y recomendaciones."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897880" y="173736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D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Deja que batallen.
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 desconcierto es el argumento de todo el taller. Nadie puede responder qué se pide, porque el párrafo no lo dice: describe el trabajo, no la conclusión.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897880" y="3639312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B3841C"/>
          </a:solidFill>
          <a:ln w="12700">
            <a:solidFill>
              <a:srgbClr val="B384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97880" y="3639312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1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38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MÉTODO EN UNA LÁMINA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0D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mismos hechos, ordenados, se leen en treinta segundos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909060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AE7"/>
            </a:solidFill>
            <a:prstDash val="solid"/>
          </a:ln>
          <a:effectLst>
            <a:outerShdw sx="100000" sy="100000" kx="0" ky="0" algn="bl" rotWithShape="0" blurRad="101600" dist="25400" dir="5400000">
              <a:srgbClr val="8894AC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276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A23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34518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4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realizó el análisis trimestral… La metodología consistió en… En la sección 4 se presentan las conclusiones.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32020" y="1463040"/>
            <a:ext cx="3909060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AE7"/>
            </a:solidFill>
            <a:prstDash val="solid"/>
          </a:ln>
          <a:effectLst>
            <a:outerShdw sx="100000" sy="100000" kx="0" ky="0" algn="bl" rotWithShape="0" blurRad="101600" dist="25400" dir="5400000">
              <a:srgbClr val="8894AC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60620" y="16276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66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960620" y="1920240"/>
            <a:ext cx="34518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0D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deterioro se concentra en un solo sector y es reversible sin cambiar el apetito de riesgo.
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Manufactura explica el 70% de las migraciones. El resto de la cartera se mantiene estable. Se requiere aprobación del ajuste sectorial el 15 de septiembre.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41605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8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Cambió el orden, no el contenido.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38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CAUSA DE FONDO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Escribimos en el orden en que trabajamos, no en el orden en que se decide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965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79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del análisis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14600" y="1965960"/>
            <a:ext cx="1417320" cy="365760"/>
          </a:xfrm>
          <a:prstGeom prst="rect">
            <a:avLst/>
          </a:prstGeom>
          <a:solidFill>
            <a:srgbClr val="223050"/>
          </a:solidFill>
          <a:ln w="9525">
            <a:solidFill>
              <a:srgbClr val="2E3E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14600" y="19659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6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069080" y="1965960"/>
            <a:ext cx="1417320" cy="365760"/>
          </a:xfrm>
          <a:prstGeom prst="rect">
            <a:avLst/>
          </a:prstGeom>
          <a:solidFill>
            <a:srgbClr val="223050"/>
          </a:solidFill>
          <a:ln w="9525">
            <a:solidFill>
              <a:srgbClr val="2E3E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69080" y="19659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6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623560" y="1965960"/>
            <a:ext cx="1417320" cy="365760"/>
          </a:xfrm>
          <a:prstGeom prst="rect">
            <a:avLst/>
          </a:prstGeom>
          <a:solidFill>
            <a:srgbClr val="223050"/>
          </a:solidFill>
          <a:ln w="9525">
            <a:solidFill>
              <a:srgbClr val="2E3E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23560" y="19659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6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178040" y="1965960"/>
            <a:ext cx="1417320" cy="365760"/>
          </a:xfrm>
          <a:prstGeom prst="rect">
            <a:avLst/>
          </a:prstGeom>
          <a:solidFill>
            <a:srgbClr val="8794AF"/>
          </a:solidFill>
          <a:ln w="9525">
            <a:solidFill>
              <a:srgbClr val="8794A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78040" y="19659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27889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8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de la decisión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514600" y="2788920"/>
            <a:ext cx="1417320" cy="365760"/>
          </a:xfrm>
          <a:prstGeom prst="rect">
            <a:avLst/>
          </a:prstGeom>
          <a:solidFill>
            <a:srgbClr val="B3841C"/>
          </a:solidFill>
          <a:ln w="9525">
            <a:solidFill>
              <a:srgbClr val="B384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14600" y="27889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1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069080" y="2788920"/>
            <a:ext cx="1417320" cy="365760"/>
          </a:xfrm>
          <a:prstGeom prst="rect">
            <a:avLst/>
          </a:prstGeom>
          <a:solidFill>
            <a:srgbClr val="223050"/>
          </a:solidFill>
          <a:ln w="9525">
            <a:solidFill>
              <a:srgbClr val="2E3E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69080" y="27889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6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Razones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23560" y="2788920"/>
            <a:ext cx="1417320" cy="365760"/>
          </a:xfrm>
          <a:prstGeom prst="rect">
            <a:avLst/>
          </a:prstGeom>
          <a:solidFill>
            <a:srgbClr val="223050"/>
          </a:solidFill>
          <a:ln w="9525">
            <a:solidFill>
              <a:srgbClr val="2E3E6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23560" y="27889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6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178040" y="2788920"/>
            <a:ext cx="1417320" cy="365760"/>
          </a:xfrm>
          <a:prstGeom prst="rect">
            <a:avLst/>
          </a:prstGeom>
          <a:solidFill>
            <a:srgbClr val="223050"/>
          </a:solidFill>
          <a:ln w="9525">
            <a:solidFill>
              <a:srgbClr val="2E3E6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78040" y="27889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6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02920" y="3794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AEB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primero es correcto para demostrar. El segundo es el único que sirve para decidir en veinte minutos.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38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1 DE 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0D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sola idea gobierna el documento; todo lo demás la sostiene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377440" y="1572768"/>
            <a:ext cx="4389120" cy="566928"/>
          </a:xfrm>
          <a:prstGeom prst="rect">
            <a:avLst/>
          </a:prstGeom>
          <a:solidFill>
            <a:srgbClr val="B3841C"/>
          </a:solidFill>
          <a:ln w="12700">
            <a:solidFill>
              <a:srgbClr val="B3841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377440" y="1572768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1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deterioro se concentra en un sector y es reversible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903720" y="17099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38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governing thought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0" y="2139696"/>
            <a:ext cx="0" cy="237744"/>
          </a:xfrm>
          <a:prstGeom prst="line">
            <a:avLst/>
          </a:prstGeom>
          <a:noFill/>
          <a:ln w="12700">
            <a:solidFill>
              <a:srgbClr val="B3841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77440" y="2377440"/>
            <a:ext cx="2103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3DAE7"/>
            </a:solidFill>
            <a:prstDash val="solid"/>
          </a:ln>
          <a:effectLst>
            <a:outerShdw sx="100000" sy="100000" kx="0" ky="0" algn="bl" rotWithShape="0" blurRad="101600" dist="25400" dir="5400000">
              <a:srgbClr val="8894AC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23774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Manufactura explica el 70%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2377440"/>
            <a:ext cx="2103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3DAE7"/>
            </a:solidFill>
            <a:prstDash val="solid"/>
          </a:ln>
          <a:effectLst>
            <a:outerShdw sx="100000" sy="100000" kx="0" ky="0" algn="bl" rotWithShape="0" blurRad="101600" dist="25400" dir="5400000">
              <a:srgbClr val="8894AC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23774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resto se mantiene estable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2944368"/>
            <a:ext cx="0" cy="237744"/>
          </a:xfrm>
          <a:prstGeom prst="line">
            <a:avLst/>
          </a:prstGeom>
          <a:noFill/>
          <a:ln w="12700">
            <a:solidFill>
              <a:srgbClr val="B384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00200" y="3182112"/>
            <a:ext cx="19659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3DAE7"/>
            </a:solidFill>
            <a:prstDash val="solid"/>
          </a:ln>
          <a:effectLst>
            <a:outerShdw sx="100000" sy="100000" kx="0" ky="0" algn="bl" rotWithShape="0" blurRad="101600" dist="25400" dir="5400000">
              <a:srgbClr val="8894AC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673352" y="3182112"/>
            <a:ext cx="1819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Originación bajo el corte anterior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703320" y="3182112"/>
            <a:ext cx="19659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3DAE7"/>
            </a:solidFill>
            <a:prstDash val="solid"/>
          </a:ln>
          <a:effectLst>
            <a:outerShdw sx="100000" sy="100000" kx="0" ky="0" algn="bl" rotWithShape="0" blurRad="101600" dist="25400" dir="5400000">
              <a:srgbClr val="8894AC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776472" y="3182112"/>
            <a:ext cx="1819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acreditados concentran la exposición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806440" y="3182112"/>
            <a:ext cx="19659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3DAE7"/>
            </a:solidFill>
            <a:prstDash val="solid"/>
          </a:ln>
          <a:effectLst>
            <a:outerShdw sx="100000" sy="100000" kx="0" ky="0" algn="bl" rotWithShape="0" blurRad="101600" dist="25400" dir="5400000">
              <a:srgbClr val="8894AC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879592" y="3182112"/>
            <a:ext cx="1819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no se ha degradado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2920" y="40416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78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nivel responde la pregunta que provoca el de arriba.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38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2 DE 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0D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introducción instala la pregunta que tu documento responde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813816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3DAE7"/>
            </a:solidFill>
            <a:prstDash val="solid"/>
          </a:ln>
          <a:effectLst>
            <a:outerShdw sx="100000" sy="100000" kx="0" ky="0" algn="bl" rotWithShape="0" blurRad="101600" dist="25400" dir="5400000">
              <a:srgbClr val="8894AC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463040"/>
            <a:ext cx="603504" cy="603504"/>
          </a:xfrm>
          <a:prstGeom prst="rect">
            <a:avLst/>
          </a:prstGeom>
          <a:solidFill>
            <a:srgbClr val="0D1526"/>
          </a:solidFill>
          <a:ln w="12700">
            <a:solidFill>
              <a:srgbClr val="0D15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630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38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07592" y="1463040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Situación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880360" y="1463040"/>
            <a:ext cx="4343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hecho que el lector acepta sin discutir. Dos renglones.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06640" y="1463040"/>
            <a:ext cx="1097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778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130552"/>
            <a:ext cx="813816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3DAE7"/>
            </a:solidFill>
            <a:prstDash val="solid"/>
          </a:ln>
          <a:effectLst>
            <a:outerShdw sx="100000" sy="100000" kx="0" ky="0" algn="bl" rotWithShape="0" blurRad="101600" dist="25400" dir="5400000">
              <a:srgbClr val="8894AC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2130552"/>
            <a:ext cx="603504" cy="603504"/>
          </a:xfrm>
          <a:prstGeom prst="rect">
            <a:avLst/>
          </a:prstGeom>
          <a:solidFill>
            <a:srgbClr val="0D1526"/>
          </a:solidFill>
          <a:ln w="12700">
            <a:solidFill>
              <a:srgbClr val="0D15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13055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38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07592" y="2130552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Complicación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880360" y="2130552"/>
            <a:ext cx="4343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cambió y por lo cual estamos teniendo esta conversación.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406640" y="2130552"/>
            <a:ext cx="1097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778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2798064"/>
            <a:ext cx="813816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3DAE7"/>
            </a:solidFill>
            <a:prstDash val="solid"/>
          </a:ln>
          <a:effectLst>
            <a:outerShdw sx="100000" sy="100000" kx="0" ky="0" algn="bl" rotWithShape="0" blurRad="101600" dist="25400" dir="5400000">
              <a:srgbClr val="8894AC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2798064"/>
            <a:ext cx="603504" cy="603504"/>
          </a:xfrm>
          <a:prstGeom prst="rect">
            <a:avLst/>
          </a:prstGeom>
          <a:solidFill>
            <a:srgbClr val="0D1526"/>
          </a:solidFill>
          <a:ln w="12700">
            <a:solidFill>
              <a:srgbClr val="0D15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79806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38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307592" y="2798064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2880360" y="2798064"/>
            <a:ext cx="4343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 sola en la cabeza del lector. Rara vez hay que escribirla.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06640" y="2798064"/>
            <a:ext cx="1097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778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3465576"/>
            <a:ext cx="813816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3DAE7"/>
            </a:solidFill>
            <a:prstDash val="solid"/>
          </a:ln>
          <a:effectLst>
            <a:outerShdw sx="100000" sy="100000" kx="0" ky="0" algn="bl" rotWithShape="0" blurRad="101600" dist="25400" dir="5400000">
              <a:srgbClr val="8894AC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2920" y="3465576"/>
            <a:ext cx="603504" cy="603504"/>
          </a:xfrm>
          <a:prstGeom prst="rect">
            <a:avLst/>
          </a:prstGeom>
          <a:solidFill>
            <a:srgbClr val="0D1526"/>
          </a:solidFill>
          <a:ln w="12700">
            <a:solidFill>
              <a:srgbClr val="0D15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46557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38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307592" y="3465576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2880360" y="3465576"/>
            <a:ext cx="4343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conclusión. Va primero en el cuerpo del documento.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406640" y="3465576"/>
            <a:ext cx="1097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778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38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SCQA EN CUATRO RENGLONES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0D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Bien construida, la introducción hace inevitable tu conclusión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81381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3DAE7"/>
            </a:solidFill>
            <a:prstDash val="solid"/>
          </a:ln>
          <a:effectLst>
            <a:outerShdw sx="100000" sy="100000" kx="0" ky="0" algn="bl" rotWithShape="0" blurRad="101600" dist="25400" dir="5400000">
              <a:srgbClr val="8894AC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481328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780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481328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se aprobó hace cinco años y sostiene el cálculo de capital de la cartera mayorista.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194560"/>
            <a:ext cx="81381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3DAE7"/>
            </a:solidFill>
            <a:prstDash val="solid"/>
          </a:ln>
          <a:effectLst>
            <a:outerShdw sx="100000" sy="100000" kx="0" ky="0" algn="bl" rotWithShape="0" blurRad="101600" dist="25400" dir="5400000">
              <a:srgbClr val="8894AC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219456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780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219456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validación encontró subestimación en el segmento medio, y el calendario no admite reconstruirlo completo.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907792"/>
            <a:ext cx="81381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3DAE7"/>
            </a:solidFill>
            <a:prstDash val="solid"/>
          </a:ln>
          <a:effectLst>
            <a:outerShdw sx="100000" sy="100000" kx="0" ky="0" algn="bl" rotWithShape="0" blurRad="101600" dist="25400" dir="5400000">
              <a:srgbClr val="8894AC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" y="2907792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780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2907792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¿Recalibramos, reconstruimos o ajustamos? (no se escribe)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621024"/>
            <a:ext cx="8138160" cy="640080"/>
          </a:xfrm>
          <a:prstGeom prst="rect">
            <a:avLst/>
          </a:prstGeom>
          <a:solidFill>
            <a:srgbClr val="F2E7CB"/>
          </a:solidFill>
          <a:ln w="9525">
            <a:solidFill>
              <a:srgbClr val="D3DAE7"/>
            </a:solidFill>
            <a:prstDash val="solid"/>
          </a:ln>
          <a:effectLst>
            <a:outerShdw sx="100000" sy="100000" kx="0" ky="0" algn="bl" rotWithShape="0" blurRad="101600" dist="25400" dir="5400000">
              <a:srgbClr val="8894AC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" y="3621024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38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3621024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2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Recalibrar con margen de conservadurismo transitorio.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38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3 DE 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0D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 "¿y qué?" hasta que la frase sirva para decidir algo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7552944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3DAE7"/>
            </a:solidFill>
            <a:prstDash val="solid"/>
          </a:ln>
          <a:effectLst>
            <a:outerShdw sx="100000" sy="100000" kx="0" ky="0" algn="bl" rotWithShape="0" blurRad="101600" dist="25400" dir="5400000">
              <a:srgbClr val="8894AC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1655064"/>
            <a:ext cx="310896" cy="310896"/>
          </a:xfrm>
          <a:prstGeom prst="ellipse">
            <a:avLst/>
          </a:prstGeom>
          <a:solidFill>
            <a:srgbClr val="A2382A"/>
          </a:solidFill>
          <a:ln w="12700">
            <a:solidFill>
              <a:srgbClr val="A238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6550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61288" y="1481328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mora del segmento medio subió 40 puntos base.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92240" y="1481328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A23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dato. ¿Y qué?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95528" y="2340864"/>
            <a:ext cx="7552944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3DAE7"/>
            </a:solidFill>
            <a:prstDash val="solid"/>
          </a:ln>
          <a:effectLst>
            <a:outerShdw sx="100000" sy="100000" kx="0" ky="0" algn="bl" rotWithShape="0" blurRad="101600" dist="25400" dir="5400000">
              <a:srgbClr val="8894AC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96696" y="2514600"/>
            <a:ext cx="310896" cy="310896"/>
          </a:xfrm>
          <a:prstGeom prst="ellipse">
            <a:avLst/>
          </a:prstGeom>
          <a:solidFill>
            <a:srgbClr val="B3841C"/>
          </a:solidFill>
          <a:ln w="12700">
            <a:solidFill>
              <a:srgbClr val="B384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6696" y="2514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53896" y="2340864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tercer trimestre consecutivo al alza.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92240" y="2340864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B38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patrón. ¿Y qué?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88136" y="3200400"/>
            <a:ext cx="7552944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3DAE7"/>
            </a:solidFill>
            <a:prstDash val="solid"/>
          </a:ln>
          <a:effectLst>
            <a:outerShdw sx="100000" sy="100000" kx="0" ky="0" algn="bl" rotWithShape="0" blurRad="101600" dist="25400" dir="5400000">
              <a:srgbClr val="8894AC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289304" y="3465576"/>
            <a:ext cx="310896" cy="310896"/>
          </a:xfrm>
          <a:prstGeom prst="ellipse">
            <a:avLst/>
          </a:prstGeom>
          <a:solidFill>
            <a:srgbClr val="16624A"/>
          </a:solidFill>
          <a:ln w="12700">
            <a:solidFill>
              <a:srgbClr val="1662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89304" y="3465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746504" y="3200400"/>
            <a:ext cx="5029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0D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deterioro es estructural, no estacional: el punto de corte vigente ya no protege la rentabilidad objetivo.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92240" y="3200400"/>
            <a:ext cx="1737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166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conclusión. Esta es la idea.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38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Escribe la conclusión de tu documento en una sola oración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87452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EB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 el documento que trajiste.
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EB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en una oración qué le estás pidiendo o diciendo al lector. Luego pregúntale "¿y qué?" a esa oración, y reescríbela. Repite hasta que la pregunta ya no produzca nada nuevo.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0" y="1828800"/>
            <a:ext cx="2697480" cy="1691640"/>
          </a:xfrm>
          <a:prstGeom prst="rect">
            <a:avLst/>
          </a:prstGeom>
          <a:solidFill>
            <a:srgbClr val="1B2A47"/>
          </a:solidFill>
          <a:ln w="9525">
            <a:solidFill>
              <a:srgbClr val="D3DAE7"/>
            </a:solidFill>
            <a:prstDash val="solid"/>
          </a:ln>
          <a:effectLst>
            <a:outerShdw sx="100000" sy="100000" kx="0" ky="0" algn="bl" rotWithShape="0" blurRad="101600" dist="25400" dir="5400000">
              <a:srgbClr val="8894AC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172200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8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llegas a nada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172200" y="23317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6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 problema de redacción. Es que falta análisis. Anótalo: es el hallazgo más valioso de la sesión.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3794760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B3841C"/>
          </a:solidFill>
          <a:ln w="12700">
            <a:solidFill>
              <a:srgbClr val="B384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79476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1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38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LA CRÍTICA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0D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critica el documento, nunca a la persona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393192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3DAE7"/>
            </a:solidFill>
            <a:prstDash val="solid"/>
          </a:ln>
          <a:effectLst>
            <a:outerShdw sx="100000" sy="100000" kx="0" ky="0" algn="bl" rotWithShape="0" blurRad="101600" dist="25400" dir="5400000">
              <a:srgbClr val="8894AC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459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Quien critica propone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Decir "no se entiende" no ayuda. "Yo pondría esta frase primero" sí.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09160" y="1508760"/>
            <a:ext cx="393192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3DAE7"/>
            </a:solidFill>
            <a:prstDash val="solid"/>
          </a:ln>
          <a:effectLst>
            <a:outerShdw sx="100000" sy="100000" kx="0" ky="0" algn="bl" rotWithShape="0" blurRad="101600" dist="25400" dir="5400000">
              <a:srgbClr val="8894AC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6459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autor no se defiende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937760" y="19659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 y decide después. Defenderse convierte el ejercicio en debate.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715768"/>
            <a:ext cx="393192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3DAE7"/>
            </a:solidFill>
            <a:prstDash val="solid"/>
          </a:ln>
          <a:effectLst>
            <a:outerShdw sx="100000" sy="100000" kx="0" ky="0" algn="bl" rotWithShape="0" blurRad="101600" dist="25400" dir="5400000">
              <a:srgbClr val="8894AC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285292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Tú vas primero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31520" y="317296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quien facilita no se expone al mismo escrutinio, nadie se expone de verdad.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09160" y="2715768"/>
            <a:ext cx="393192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3DAE7"/>
            </a:solidFill>
            <a:prstDash val="solid"/>
          </a:ln>
          <a:effectLst>
            <a:outerShdw sx="100000" sy="100000" kx="0" ky="0" algn="bl" rotWithShape="0" blurRad="101600" dist="25400" dir="5400000">
              <a:srgbClr val="8894AC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285292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juzga el texto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937760" y="317296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misma distinción entre conducta e identidad, aplicada a un documento.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38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CRÍTICA EN GRUPO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voluntarios leen su oración y el grupo pregunta "¿y qué?" en voz alta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22860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B38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 incómodo. Ahí es donde ocurre el aprendizaje.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2920" y="283464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AEB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objetivo no es corregir tres documentos: es que los otros cinco reconozcan su propio texto en el que está siendo criticado.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3886200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B3841C"/>
          </a:solidFill>
          <a:ln w="12700">
            <a:solidFill>
              <a:srgbClr val="B384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88620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1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38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Reescribe tu introducción con SCQA, en cuatro renglones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965960"/>
            <a:ext cx="310896" cy="310896"/>
          </a:xfrm>
          <a:prstGeom prst="rect">
            <a:avLst/>
          </a:prstGeom>
          <a:solidFill>
            <a:srgbClr val="223050"/>
          </a:solidFill>
          <a:ln w="12700">
            <a:solidFill>
              <a:srgbClr val="2E3E6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9659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38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1965960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Situación: un hecho que nadie discute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423160"/>
            <a:ext cx="310896" cy="310896"/>
          </a:xfrm>
          <a:prstGeom prst="rect">
            <a:avLst/>
          </a:prstGeom>
          <a:solidFill>
            <a:srgbClr val="223050"/>
          </a:solidFill>
          <a:ln w="12700">
            <a:solidFill>
              <a:srgbClr val="2E3E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423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38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2423160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Complicación: qué cambió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880360"/>
            <a:ext cx="310896" cy="310896"/>
          </a:xfrm>
          <a:prstGeom prst="rect">
            <a:avLst/>
          </a:prstGeom>
          <a:solidFill>
            <a:srgbClr val="223050"/>
          </a:solidFill>
          <a:ln w="12700">
            <a:solidFill>
              <a:srgbClr val="2E3E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880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38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2880360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Pregunta: qué se abre (no la escribas)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337560"/>
            <a:ext cx="310896" cy="310896"/>
          </a:xfrm>
          <a:prstGeom prst="rect">
            <a:avLst/>
          </a:prstGeom>
          <a:solidFill>
            <a:srgbClr val="B3841C"/>
          </a:solidFill>
          <a:ln w="12700">
            <a:solidFill>
              <a:srgbClr val="B3841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3375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12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3337560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Respuesta: tu conclusión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3931920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B3841C"/>
          </a:solidFill>
          <a:ln w="12700">
            <a:solidFill>
              <a:srgbClr val="B384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93192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1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E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38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RECONOCER AL RELEER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0D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señales de que el documento todavía no está estructurado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81381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3DAE7"/>
            </a:solidFill>
            <a:prstDash val="solid"/>
          </a:ln>
          <a:effectLst>
            <a:outerShdw sx="100000" sy="100000" kx="0" ky="0" algn="bl" rotWithShape="0" blurRad="101600" dist="25400" dir="5400000">
              <a:srgbClr val="8894AC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04088" y="1481328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8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80160" y="1481328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conclusión aparece en la última página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084832"/>
            <a:ext cx="81381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3DAE7"/>
            </a:solidFill>
            <a:prstDash val="solid"/>
          </a:ln>
          <a:effectLst>
            <a:outerShdw sx="100000" sy="100000" kx="0" ky="0" algn="bl" rotWithShape="0" blurRad="101600" dist="25400" dir="5400000">
              <a:srgbClr val="8894AC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04088" y="2084832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8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2084832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encabezados nombran temas, no ideas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688336"/>
            <a:ext cx="81381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3DAE7"/>
            </a:solidFill>
            <a:prstDash val="solid"/>
          </a:ln>
          <a:effectLst>
            <a:outerShdw sx="100000" sy="100000" kx="0" ky="0" algn="bl" rotWithShape="0" blurRad="101600" dist="25400" dir="5400000">
              <a:srgbClr val="8894AC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04088" y="2688336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8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80160" y="2688336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"Identificamos tres problemas" y nada más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291840"/>
            <a:ext cx="81381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3DAE7"/>
            </a:solidFill>
            <a:prstDash val="solid"/>
          </a:ln>
          <a:effectLst>
            <a:outerShdw sx="100000" sy="100000" kx="0" ky="0" algn="bl" rotWithShape="0" blurRad="101600" dist="25400" dir="5400000">
              <a:srgbClr val="8894AC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04088" y="3291840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8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80160" y="3291840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introducción explica todo lo que trabajaste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3895344"/>
            <a:ext cx="81381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3DAE7"/>
            </a:solidFill>
            <a:prstDash val="solid"/>
          </a:ln>
          <a:effectLst>
            <a:outerShdw sx="100000" sy="100000" kx="0" ky="0" algn="bl" rotWithShape="0" blurRad="101600" dist="25400" dir="5400000">
              <a:srgbClr val="8894AC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04088" y="3895344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8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80160" y="3895344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título de la lámina es la variable graficada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38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13716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B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compromiso es uno solo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192024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Durante el próximo mes, todo correo de más de cinco renglones lleva la petición en el primer renglón.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35204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38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más. Un solo hábito sostenido cambia más que veinte reglas olvidadas.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4069080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B3841C"/>
          </a:solidFill>
          <a:ln w="12700">
            <a:solidFill>
              <a:srgbClr val="B384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406908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1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E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38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 DE LA SESIÓN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0D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taller no instala el hábito; lo instala lo que hagas las semanas siguientes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393192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3DAE7"/>
            </a:solidFill>
            <a:prstDash val="solid"/>
          </a:ln>
          <a:effectLst>
            <a:outerShdw sx="100000" sy="100000" kx="0" ky="0" algn="bl" rotWithShape="0" blurRad="101600" dist="25400" dir="5400000">
              <a:srgbClr val="8894AC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58952" y="1783080"/>
            <a:ext cx="3419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0D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devuelves documentos con la misma pregunta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58952" y="2395728"/>
            <a:ext cx="34198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"¿Cuál es la conclusión, y va primero?" — consistentemente, sin excepciones. En dos meses el equipo escribe distinto.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09160" y="1554480"/>
            <a:ext cx="393192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3DAE7"/>
            </a:solidFill>
            <a:prstDash val="solid"/>
          </a:ln>
          <a:effectLst>
            <a:outerShdw sx="100000" sy="100000" kx="0" ky="0" algn="bl" rotWithShape="0" blurRad="101600" dist="25400" dir="5400000">
              <a:srgbClr val="8894AC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65192" y="1783080"/>
            <a:ext cx="3419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0D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lo haces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65192" y="2395728"/>
            <a:ext cx="34198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taller fue una tarde agradable sin efecto. Es el desenlace más común y es enteramente evitable.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39776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8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guía completa, con los ocho casos aplicados y el glosario de términos originales, está en el repositorio.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Taller: El Principio de la Pirámide</dc:title>
  <dc:subject>PptxGenJS Presentation</dc:subject>
  <dc:creator>Guía del Principio de la Pirámide</dc:creator>
  <cp:lastModifiedBy>Guía del Principio de la Pirámide</cp:lastModifiedBy>
  <cp:revision>1</cp:revision>
  <dcterms:created xsi:type="dcterms:W3CDTF">2026-08-25T06:24:34Z</dcterms:created>
  <dcterms:modified xsi:type="dcterms:W3CDTF">2026-08-25T06:24:34Z</dcterms:modified>
</cp:coreProperties>
</file>